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rimo Bold" charset="1" panose="020B0704020202020204"/>
      <p:regular r:id="rId20"/>
    </p:embeddedFont>
    <p:embeddedFont>
      <p:font typeface="IBM Plex Sans Bold" charset="1" panose="020B0803050203000203"/>
      <p:regular r:id="rId21"/>
    </p:embeddedFont>
    <p:embeddedFont>
      <p:font typeface="IBM Plex Sans" charset="1" panose="020B0503050203000203"/>
      <p:regular r:id="rId22"/>
    </p:embeddedFont>
    <p:embeddedFont>
      <p:font typeface="Arimo" charset="1" panose="020B060402020202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fonts/font24.fntdata" Type="http://schemas.openxmlformats.org/officeDocument/2006/relationships/font"/><Relationship Id="rId25" Target="notesSlides/notesSlide3.xml" Type="http://schemas.openxmlformats.org/officeDocument/2006/relationships/notesSlide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33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png" Type="http://schemas.openxmlformats.org/officeDocument/2006/relationships/image"/><Relationship Id="rId12" Target="../media/image20.svg" Type="http://schemas.openxmlformats.org/officeDocument/2006/relationships/image"/><Relationship Id="rId13" Target="../media/image21.png" Type="http://schemas.openxmlformats.org/officeDocument/2006/relationships/image"/><Relationship Id="rId14" Target="../media/image22.png" Type="http://schemas.openxmlformats.org/officeDocument/2006/relationships/image"/><Relationship Id="rId15" Target="../media/image23.svg" Type="http://schemas.openxmlformats.org/officeDocument/2006/relationships/image"/><Relationship Id="rId16" Target="../media/image24.png" Type="http://schemas.openxmlformats.org/officeDocument/2006/relationships/image"/><Relationship Id="rId17" Target="../media/image25.png" Type="http://schemas.openxmlformats.org/officeDocument/2006/relationships/image"/><Relationship Id="rId18" Target="../media/image26.svg" Type="http://schemas.openxmlformats.org/officeDocument/2006/relationships/image"/><Relationship Id="rId19" Target="../media/image27.png" Type="http://schemas.openxmlformats.org/officeDocument/2006/relationships/image"/><Relationship Id="rId2" Target="../notesSlides/notesSlide9.xml" Type="http://schemas.openxmlformats.org/officeDocument/2006/relationships/notesSlide"/><Relationship Id="rId20" Target="../media/image28.png" Type="http://schemas.openxmlformats.org/officeDocument/2006/relationships/image"/><Relationship Id="rId21" Target="../media/image29.sv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" y="342900"/>
            <a:ext cx="4277274" cy="9957942"/>
          </a:xfrm>
          <a:custGeom>
            <a:avLst/>
            <a:gdLst/>
            <a:ahLst/>
            <a:cxnLst/>
            <a:rect r="r" b="b" t="t" l="l"/>
            <a:pathLst>
              <a:path h="9957942" w="4277274">
                <a:moveTo>
                  <a:pt x="0" y="0"/>
                </a:moveTo>
                <a:lnTo>
                  <a:pt x="4277274" y="0"/>
                </a:lnTo>
                <a:lnTo>
                  <a:pt x="4277274" y="9957942"/>
                </a:lnTo>
                <a:lnTo>
                  <a:pt x="0" y="99579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0831" y="-1179"/>
            <a:ext cx="3535011" cy="10281059"/>
          </a:xfrm>
          <a:custGeom>
            <a:avLst/>
            <a:gdLst/>
            <a:ahLst/>
            <a:cxnLst/>
            <a:rect r="r" b="b" t="t" l="l"/>
            <a:pathLst>
              <a:path h="10281059" w="3535011">
                <a:moveTo>
                  <a:pt x="0" y="0"/>
                </a:moveTo>
                <a:lnTo>
                  <a:pt x="3535012" y="0"/>
                </a:lnTo>
                <a:lnTo>
                  <a:pt x="3535012" y="10281059"/>
                </a:lnTo>
                <a:lnTo>
                  <a:pt x="0" y="102810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274320" cy="10287000"/>
            <a:chOff x="0" y="0"/>
            <a:chExt cx="365760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576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66F54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992237" y="1970634"/>
            <a:ext cx="16303526" cy="246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25"/>
              </a:lnSpc>
            </a:pPr>
            <a:r>
              <a:rPr lang="en-US" sz="7687" b="true">
                <a:solidFill>
                  <a:srgbClr val="3F6FF3"/>
                </a:solidFill>
                <a:latin typeface="Arimo Bold"/>
                <a:ea typeface="Arimo Bold"/>
                <a:cs typeface="Arimo Bold"/>
                <a:sym typeface="Arimo Bold"/>
              </a:rPr>
              <a:t>AI-Powered Multimodal Communication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6" y="4804171"/>
            <a:ext cx="16303526" cy="339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4000" b="true">
                <a:solidFill>
                  <a:srgbClr val="66666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(Bridging Communication Barriers for Disabled Users)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5774" y="5391150"/>
            <a:ext cx="16303526" cy="372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2249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7th Semester Project | Department of Computer Science &amp; Engineering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5958756"/>
            <a:ext cx="16303526" cy="372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2249" b="true">
                <a:solidFill>
                  <a:srgbClr val="66666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RVS College of Engineering and Technology, Jamshedpur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6545411"/>
            <a:ext cx="16303526" cy="353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2499" b="true">
                <a:solidFill>
                  <a:srgbClr val="424D22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Dayanand Kr Gupta  (CSE/057/22)</a:t>
            </a:r>
          </a:p>
          <a:p>
            <a:pPr algn="ctr">
              <a:lnSpc>
                <a:spcPts val="2812"/>
              </a:lnSpc>
            </a:pPr>
            <a:r>
              <a:rPr lang="en-US" sz="2499" b="true">
                <a:solidFill>
                  <a:srgbClr val="424D22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Ayush Kr Sinha (CSE/060/22)</a:t>
            </a:r>
          </a:p>
          <a:p>
            <a:pPr algn="ctr">
              <a:lnSpc>
                <a:spcPts val="2812"/>
              </a:lnSpc>
            </a:pPr>
            <a:r>
              <a:rPr lang="en-US" sz="2499" b="true">
                <a:solidFill>
                  <a:srgbClr val="424D22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Akash Rana (CSE/061/22)</a:t>
            </a:r>
          </a:p>
          <a:p>
            <a:pPr algn="ctr">
              <a:lnSpc>
                <a:spcPts val="2812"/>
              </a:lnSpc>
            </a:pPr>
            <a:r>
              <a:rPr lang="en-US" sz="2499" b="true">
                <a:solidFill>
                  <a:srgbClr val="424D22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Anu Kumari (CSE/062/22)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49438" y="9077474"/>
            <a:ext cx="16303526" cy="191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4000" b="true">
                <a:solidFill>
                  <a:srgbClr val="4B866E"/>
                </a:solidFill>
                <a:latin typeface="Arimo Bold"/>
                <a:ea typeface="Arimo Bold"/>
                <a:cs typeface="Arimo Bold"/>
                <a:sym typeface="Arimo Bold"/>
              </a:rPr>
              <a:t>Under the guidance of Prof. Momita Kundu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" y="342900"/>
            <a:ext cx="4277274" cy="9957942"/>
          </a:xfrm>
          <a:custGeom>
            <a:avLst/>
            <a:gdLst/>
            <a:ahLst/>
            <a:cxnLst/>
            <a:rect r="r" b="b" t="t" l="l"/>
            <a:pathLst>
              <a:path h="9957942" w="4277274">
                <a:moveTo>
                  <a:pt x="0" y="0"/>
                </a:moveTo>
                <a:lnTo>
                  <a:pt x="4277274" y="0"/>
                </a:lnTo>
                <a:lnTo>
                  <a:pt x="4277274" y="9957942"/>
                </a:lnTo>
                <a:lnTo>
                  <a:pt x="0" y="99579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0831" y="-1179"/>
            <a:ext cx="3535011" cy="10281059"/>
          </a:xfrm>
          <a:custGeom>
            <a:avLst/>
            <a:gdLst/>
            <a:ahLst/>
            <a:cxnLst/>
            <a:rect r="r" b="b" t="t" l="l"/>
            <a:pathLst>
              <a:path h="10281059" w="3535011">
                <a:moveTo>
                  <a:pt x="0" y="0"/>
                </a:moveTo>
                <a:lnTo>
                  <a:pt x="3535012" y="0"/>
                </a:lnTo>
                <a:lnTo>
                  <a:pt x="3535012" y="10281059"/>
                </a:lnTo>
                <a:lnTo>
                  <a:pt x="0" y="102810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274320" cy="10287000"/>
            <a:chOff x="0" y="0"/>
            <a:chExt cx="365760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576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66F54"/>
            </a:solid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7850237" y="1115914"/>
            <a:ext cx="7088237" cy="94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3F6FF3"/>
                </a:solidFill>
                <a:latin typeface="Arimo"/>
                <a:ea typeface="Arimo"/>
                <a:cs typeface="Arimo"/>
                <a:sym typeface="Arimo"/>
              </a:rPr>
              <a:t>Project Vision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50237" y="2398514"/>
            <a:ext cx="9445526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This platform empowers people with disabilities through AI-driven communication. We integrate speech, text, and sign language into a unified, intelligent system that promotes inclusive learning and meaningful social interaction.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845475" y="4612927"/>
            <a:ext cx="4590455" cy="2569517"/>
            <a:chOff x="0" y="0"/>
            <a:chExt cx="6120607" cy="342602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350" y="6350"/>
              <a:ext cx="6107811" cy="3413379"/>
            </a:xfrm>
            <a:custGeom>
              <a:avLst/>
              <a:gdLst/>
              <a:ahLst/>
              <a:cxnLst/>
              <a:rect r="r" b="b" t="t" l="l"/>
              <a:pathLst>
                <a:path h="3413379" w="6107811">
                  <a:moveTo>
                    <a:pt x="0" y="340233"/>
                  </a:moveTo>
                  <a:cubicBezTo>
                    <a:pt x="0" y="152273"/>
                    <a:pt x="152527" y="0"/>
                    <a:pt x="340741" y="0"/>
                  </a:cubicBezTo>
                  <a:lnTo>
                    <a:pt x="5767070" y="0"/>
                  </a:lnTo>
                  <a:cubicBezTo>
                    <a:pt x="5955284" y="0"/>
                    <a:pt x="6107811" y="152273"/>
                    <a:pt x="6107811" y="340233"/>
                  </a:cubicBezTo>
                  <a:lnTo>
                    <a:pt x="6107811" y="3073146"/>
                  </a:lnTo>
                  <a:cubicBezTo>
                    <a:pt x="6107811" y="3261106"/>
                    <a:pt x="5955284" y="3413379"/>
                    <a:pt x="5767070" y="3413379"/>
                  </a:cubicBezTo>
                  <a:lnTo>
                    <a:pt x="340741" y="3413379"/>
                  </a:lnTo>
                  <a:cubicBezTo>
                    <a:pt x="152527" y="3413379"/>
                    <a:pt x="0" y="3260979"/>
                    <a:pt x="0" y="3073146"/>
                  </a:cubicBezTo>
                  <a:close/>
                </a:path>
              </a:pathLst>
            </a:custGeom>
            <a:solidFill>
              <a:srgbClr val="CFDBFC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120511" cy="3426079"/>
            </a:xfrm>
            <a:custGeom>
              <a:avLst/>
              <a:gdLst/>
              <a:ahLst/>
              <a:cxnLst/>
              <a:rect r="r" b="b" t="t" l="l"/>
              <a:pathLst>
                <a:path h="3426079" w="6120511">
                  <a:moveTo>
                    <a:pt x="0" y="346583"/>
                  </a:moveTo>
                  <a:cubicBezTo>
                    <a:pt x="0" y="155194"/>
                    <a:pt x="155448" y="0"/>
                    <a:pt x="347091" y="0"/>
                  </a:cubicBezTo>
                  <a:lnTo>
                    <a:pt x="5773420" y="0"/>
                  </a:lnTo>
                  <a:lnTo>
                    <a:pt x="5773420" y="6350"/>
                  </a:lnTo>
                  <a:lnTo>
                    <a:pt x="5773420" y="0"/>
                  </a:lnTo>
                  <a:cubicBezTo>
                    <a:pt x="5965190" y="0"/>
                    <a:pt x="6120511" y="155194"/>
                    <a:pt x="6120511" y="346583"/>
                  </a:cubicBezTo>
                  <a:lnTo>
                    <a:pt x="6114161" y="346583"/>
                  </a:lnTo>
                  <a:lnTo>
                    <a:pt x="6120511" y="346583"/>
                  </a:lnTo>
                  <a:lnTo>
                    <a:pt x="6120511" y="3079496"/>
                  </a:lnTo>
                  <a:lnTo>
                    <a:pt x="6114161" y="3079496"/>
                  </a:lnTo>
                  <a:lnTo>
                    <a:pt x="6120511" y="3079496"/>
                  </a:lnTo>
                  <a:cubicBezTo>
                    <a:pt x="6120511" y="3270885"/>
                    <a:pt x="5965063" y="3426079"/>
                    <a:pt x="5773420" y="3426079"/>
                  </a:cubicBezTo>
                  <a:lnTo>
                    <a:pt x="5773420" y="3419729"/>
                  </a:lnTo>
                  <a:lnTo>
                    <a:pt x="5773420" y="3426079"/>
                  </a:lnTo>
                  <a:lnTo>
                    <a:pt x="347091" y="3426079"/>
                  </a:lnTo>
                  <a:lnTo>
                    <a:pt x="347091" y="3419729"/>
                  </a:lnTo>
                  <a:lnTo>
                    <a:pt x="347091" y="3426079"/>
                  </a:lnTo>
                  <a:cubicBezTo>
                    <a:pt x="155448" y="3426079"/>
                    <a:pt x="0" y="3270885"/>
                    <a:pt x="0" y="3079496"/>
                  </a:cubicBezTo>
                  <a:lnTo>
                    <a:pt x="0" y="346583"/>
                  </a:lnTo>
                  <a:lnTo>
                    <a:pt x="6350" y="346583"/>
                  </a:lnTo>
                  <a:lnTo>
                    <a:pt x="0" y="346583"/>
                  </a:lnTo>
                  <a:moveTo>
                    <a:pt x="12700" y="346583"/>
                  </a:moveTo>
                  <a:lnTo>
                    <a:pt x="12700" y="3079496"/>
                  </a:lnTo>
                  <a:lnTo>
                    <a:pt x="6350" y="3079496"/>
                  </a:lnTo>
                  <a:lnTo>
                    <a:pt x="12700" y="3079496"/>
                  </a:lnTo>
                  <a:cubicBezTo>
                    <a:pt x="12700" y="3263900"/>
                    <a:pt x="162433" y="3413379"/>
                    <a:pt x="347091" y="3413379"/>
                  </a:cubicBezTo>
                  <a:lnTo>
                    <a:pt x="5773420" y="3413379"/>
                  </a:lnTo>
                  <a:cubicBezTo>
                    <a:pt x="5958078" y="3413379"/>
                    <a:pt x="6107811" y="3263900"/>
                    <a:pt x="6107811" y="3079496"/>
                  </a:cubicBezTo>
                  <a:lnTo>
                    <a:pt x="6107811" y="346583"/>
                  </a:lnTo>
                  <a:cubicBezTo>
                    <a:pt x="6107938" y="162179"/>
                    <a:pt x="5958205" y="12700"/>
                    <a:pt x="5773420" y="12700"/>
                  </a:cubicBezTo>
                  <a:lnTo>
                    <a:pt x="347091" y="12700"/>
                  </a:lnTo>
                  <a:lnTo>
                    <a:pt x="347091" y="6350"/>
                  </a:lnTo>
                  <a:lnTo>
                    <a:pt x="347091" y="12700"/>
                  </a:lnTo>
                  <a:cubicBezTo>
                    <a:pt x="162433" y="12700"/>
                    <a:pt x="12700" y="162179"/>
                    <a:pt x="12700" y="346583"/>
                  </a:cubicBezTo>
                  <a:close/>
                </a:path>
              </a:pathLst>
            </a:custGeom>
            <a:solidFill>
              <a:srgbClr val="B5C1E2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8143280" y="4872632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Multimodal AI Tutor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143280" y="5438031"/>
            <a:ext cx="3994845" cy="144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Interactive learning across speech, text, and sign language modes.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709922" y="4612927"/>
            <a:ext cx="4590604" cy="2569517"/>
            <a:chOff x="0" y="0"/>
            <a:chExt cx="6120805" cy="342602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6350" y="6350"/>
              <a:ext cx="6108065" cy="3413379"/>
            </a:xfrm>
            <a:custGeom>
              <a:avLst/>
              <a:gdLst/>
              <a:ahLst/>
              <a:cxnLst/>
              <a:rect r="r" b="b" t="t" l="l"/>
              <a:pathLst>
                <a:path h="3413379" w="6108065">
                  <a:moveTo>
                    <a:pt x="0" y="340233"/>
                  </a:moveTo>
                  <a:cubicBezTo>
                    <a:pt x="0" y="152273"/>
                    <a:pt x="152527" y="0"/>
                    <a:pt x="340741" y="0"/>
                  </a:cubicBezTo>
                  <a:lnTo>
                    <a:pt x="5767324" y="0"/>
                  </a:lnTo>
                  <a:cubicBezTo>
                    <a:pt x="5955538" y="0"/>
                    <a:pt x="6108065" y="152273"/>
                    <a:pt x="6108065" y="340233"/>
                  </a:cubicBezTo>
                  <a:lnTo>
                    <a:pt x="6108065" y="3073146"/>
                  </a:lnTo>
                  <a:cubicBezTo>
                    <a:pt x="6108065" y="3261106"/>
                    <a:pt x="5955538" y="3413379"/>
                    <a:pt x="5767324" y="3413379"/>
                  </a:cubicBezTo>
                  <a:lnTo>
                    <a:pt x="340741" y="3413379"/>
                  </a:lnTo>
                  <a:cubicBezTo>
                    <a:pt x="152527" y="3413379"/>
                    <a:pt x="0" y="3260979"/>
                    <a:pt x="0" y="3073146"/>
                  </a:cubicBezTo>
                  <a:close/>
                </a:path>
              </a:pathLst>
            </a:custGeom>
            <a:solidFill>
              <a:srgbClr val="CFDBFC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120765" cy="3426079"/>
            </a:xfrm>
            <a:custGeom>
              <a:avLst/>
              <a:gdLst/>
              <a:ahLst/>
              <a:cxnLst/>
              <a:rect r="r" b="b" t="t" l="l"/>
              <a:pathLst>
                <a:path h="3426079" w="6120765">
                  <a:moveTo>
                    <a:pt x="0" y="346583"/>
                  </a:moveTo>
                  <a:cubicBezTo>
                    <a:pt x="0" y="155194"/>
                    <a:pt x="155448" y="0"/>
                    <a:pt x="347091" y="0"/>
                  </a:cubicBezTo>
                  <a:lnTo>
                    <a:pt x="5773674" y="0"/>
                  </a:lnTo>
                  <a:lnTo>
                    <a:pt x="5773674" y="6350"/>
                  </a:lnTo>
                  <a:lnTo>
                    <a:pt x="5773674" y="0"/>
                  </a:lnTo>
                  <a:cubicBezTo>
                    <a:pt x="5965444" y="0"/>
                    <a:pt x="6120765" y="155194"/>
                    <a:pt x="6120765" y="346583"/>
                  </a:cubicBezTo>
                  <a:lnTo>
                    <a:pt x="6114415" y="346583"/>
                  </a:lnTo>
                  <a:lnTo>
                    <a:pt x="6120765" y="346583"/>
                  </a:lnTo>
                  <a:lnTo>
                    <a:pt x="6120765" y="3079496"/>
                  </a:lnTo>
                  <a:lnTo>
                    <a:pt x="6114415" y="3079496"/>
                  </a:lnTo>
                  <a:lnTo>
                    <a:pt x="6120765" y="3079496"/>
                  </a:lnTo>
                  <a:cubicBezTo>
                    <a:pt x="6120765" y="3270885"/>
                    <a:pt x="5965317" y="3426079"/>
                    <a:pt x="5773674" y="3426079"/>
                  </a:cubicBezTo>
                  <a:lnTo>
                    <a:pt x="5773674" y="3419729"/>
                  </a:lnTo>
                  <a:lnTo>
                    <a:pt x="5773674" y="3426079"/>
                  </a:lnTo>
                  <a:lnTo>
                    <a:pt x="347091" y="3426079"/>
                  </a:lnTo>
                  <a:lnTo>
                    <a:pt x="347091" y="3419729"/>
                  </a:lnTo>
                  <a:lnTo>
                    <a:pt x="347091" y="3426079"/>
                  </a:lnTo>
                  <a:cubicBezTo>
                    <a:pt x="155448" y="3426079"/>
                    <a:pt x="0" y="3270885"/>
                    <a:pt x="0" y="3079496"/>
                  </a:cubicBezTo>
                  <a:lnTo>
                    <a:pt x="0" y="346583"/>
                  </a:lnTo>
                  <a:lnTo>
                    <a:pt x="6350" y="346583"/>
                  </a:lnTo>
                  <a:lnTo>
                    <a:pt x="0" y="346583"/>
                  </a:lnTo>
                  <a:moveTo>
                    <a:pt x="12700" y="346583"/>
                  </a:moveTo>
                  <a:lnTo>
                    <a:pt x="12700" y="3079496"/>
                  </a:lnTo>
                  <a:lnTo>
                    <a:pt x="6350" y="3079496"/>
                  </a:lnTo>
                  <a:lnTo>
                    <a:pt x="12700" y="3079496"/>
                  </a:lnTo>
                  <a:cubicBezTo>
                    <a:pt x="12700" y="3263900"/>
                    <a:pt x="162433" y="3413379"/>
                    <a:pt x="347091" y="3413379"/>
                  </a:cubicBezTo>
                  <a:lnTo>
                    <a:pt x="5773674" y="3413379"/>
                  </a:lnTo>
                  <a:cubicBezTo>
                    <a:pt x="5958332" y="3413379"/>
                    <a:pt x="6108065" y="3263900"/>
                    <a:pt x="6108065" y="3079496"/>
                  </a:cubicBezTo>
                  <a:lnTo>
                    <a:pt x="6108065" y="346583"/>
                  </a:lnTo>
                  <a:cubicBezTo>
                    <a:pt x="6108065" y="162179"/>
                    <a:pt x="5958332" y="12700"/>
                    <a:pt x="5773674" y="12700"/>
                  </a:cubicBezTo>
                  <a:lnTo>
                    <a:pt x="347091" y="12700"/>
                  </a:lnTo>
                  <a:lnTo>
                    <a:pt x="347091" y="6350"/>
                  </a:lnTo>
                  <a:lnTo>
                    <a:pt x="347091" y="12700"/>
                  </a:lnTo>
                  <a:cubicBezTo>
                    <a:pt x="162433" y="12700"/>
                    <a:pt x="12700" y="162179"/>
                    <a:pt x="12700" y="346583"/>
                  </a:cubicBezTo>
                  <a:close/>
                </a:path>
              </a:pathLst>
            </a:custGeom>
            <a:solidFill>
              <a:srgbClr val="B5C1E2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3007728" y="4872632"/>
            <a:ext cx="3634979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Intelligent Chat System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007728" y="5438031"/>
            <a:ext cx="3994994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Real-time collaboration and peer-to-peer communication.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845475" y="7456437"/>
            <a:ext cx="9455051" cy="1662261"/>
            <a:chOff x="0" y="0"/>
            <a:chExt cx="12606735" cy="221634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6350" y="6350"/>
              <a:ext cx="12594082" cy="2203704"/>
            </a:xfrm>
            <a:custGeom>
              <a:avLst/>
              <a:gdLst/>
              <a:ahLst/>
              <a:cxnLst/>
              <a:rect r="r" b="b" t="t" l="l"/>
              <a:pathLst>
                <a:path h="2203704" w="12594082">
                  <a:moveTo>
                    <a:pt x="0" y="340233"/>
                  </a:moveTo>
                  <a:cubicBezTo>
                    <a:pt x="0" y="152273"/>
                    <a:pt x="153035" y="0"/>
                    <a:pt x="341884" y="0"/>
                  </a:cubicBezTo>
                  <a:lnTo>
                    <a:pt x="12252198" y="0"/>
                  </a:lnTo>
                  <a:cubicBezTo>
                    <a:pt x="12441047" y="0"/>
                    <a:pt x="12594082" y="152273"/>
                    <a:pt x="12594082" y="340233"/>
                  </a:cubicBezTo>
                  <a:lnTo>
                    <a:pt x="12594082" y="1863344"/>
                  </a:lnTo>
                  <a:cubicBezTo>
                    <a:pt x="12594082" y="2051304"/>
                    <a:pt x="12441047" y="2203577"/>
                    <a:pt x="12252198" y="2203577"/>
                  </a:cubicBezTo>
                  <a:lnTo>
                    <a:pt x="341884" y="2203577"/>
                  </a:lnTo>
                  <a:cubicBezTo>
                    <a:pt x="153035" y="2203704"/>
                    <a:pt x="0" y="2051304"/>
                    <a:pt x="0" y="1863344"/>
                  </a:cubicBezTo>
                  <a:close/>
                </a:path>
              </a:pathLst>
            </a:custGeom>
            <a:solidFill>
              <a:srgbClr val="CFDBFC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606782" cy="2216404"/>
            </a:xfrm>
            <a:custGeom>
              <a:avLst/>
              <a:gdLst/>
              <a:ahLst/>
              <a:cxnLst/>
              <a:rect r="r" b="b" t="t" l="l"/>
              <a:pathLst>
                <a:path h="2216404" w="12606782">
                  <a:moveTo>
                    <a:pt x="0" y="346583"/>
                  </a:moveTo>
                  <a:cubicBezTo>
                    <a:pt x="0" y="155194"/>
                    <a:pt x="155956" y="0"/>
                    <a:pt x="348234" y="0"/>
                  </a:cubicBezTo>
                  <a:lnTo>
                    <a:pt x="12258548" y="0"/>
                  </a:lnTo>
                  <a:lnTo>
                    <a:pt x="12258548" y="6350"/>
                  </a:lnTo>
                  <a:lnTo>
                    <a:pt x="12258548" y="0"/>
                  </a:lnTo>
                  <a:cubicBezTo>
                    <a:pt x="12450826" y="0"/>
                    <a:pt x="12606782" y="155194"/>
                    <a:pt x="12606782" y="346583"/>
                  </a:cubicBezTo>
                  <a:lnTo>
                    <a:pt x="12600432" y="346583"/>
                  </a:lnTo>
                  <a:lnTo>
                    <a:pt x="12606782" y="346583"/>
                  </a:lnTo>
                  <a:lnTo>
                    <a:pt x="12606782" y="1869694"/>
                  </a:lnTo>
                  <a:lnTo>
                    <a:pt x="12600432" y="1869694"/>
                  </a:lnTo>
                  <a:lnTo>
                    <a:pt x="12606782" y="1869694"/>
                  </a:lnTo>
                  <a:cubicBezTo>
                    <a:pt x="12606782" y="2061083"/>
                    <a:pt x="12450826" y="2216277"/>
                    <a:pt x="12258548" y="2216277"/>
                  </a:cubicBezTo>
                  <a:lnTo>
                    <a:pt x="12258548" y="2209927"/>
                  </a:lnTo>
                  <a:lnTo>
                    <a:pt x="12258548" y="2216277"/>
                  </a:lnTo>
                  <a:lnTo>
                    <a:pt x="348234" y="2216277"/>
                  </a:lnTo>
                  <a:lnTo>
                    <a:pt x="348234" y="2209927"/>
                  </a:lnTo>
                  <a:lnTo>
                    <a:pt x="348234" y="2216277"/>
                  </a:lnTo>
                  <a:cubicBezTo>
                    <a:pt x="155956" y="2216404"/>
                    <a:pt x="0" y="2061210"/>
                    <a:pt x="0" y="1869694"/>
                  </a:cubicBezTo>
                  <a:lnTo>
                    <a:pt x="0" y="346583"/>
                  </a:lnTo>
                  <a:lnTo>
                    <a:pt x="6350" y="346583"/>
                  </a:lnTo>
                  <a:lnTo>
                    <a:pt x="0" y="346583"/>
                  </a:lnTo>
                  <a:moveTo>
                    <a:pt x="12700" y="346583"/>
                  </a:moveTo>
                  <a:lnTo>
                    <a:pt x="12700" y="1869694"/>
                  </a:lnTo>
                  <a:lnTo>
                    <a:pt x="6350" y="1869694"/>
                  </a:lnTo>
                  <a:lnTo>
                    <a:pt x="12700" y="1869694"/>
                  </a:lnTo>
                  <a:cubicBezTo>
                    <a:pt x="12700" y="2054098"/>
                    <a:pt x="162941" y="2203577"/>
                    <a:pt x="348234" y="2203577"/>
                  </a:cubicBezTo>
                  <a:lnTo>
                    <a:pt x="12258548" y="2203577"/>
                  </a:lnTo>
                  <a:cubicBezTo>
                    <a:pt x="12443841" y="2203577"/>
                    <a:pt x="12594082" y="2054098"/>
                    <a:pt x="12594082" y="1869694"/>
                  </a:cubicBezTo>
                  <a:lnTo>
                    <a:pt x="12594082" y="346583"/>
                  </a:lnTo>
                  <a:cubicBezTo>
                    <a:pt x="12594082" y="162179"/>
                    <a:pt x="12443841" y="12700"/>
                    <a:pt x="12258548" y="12700"/>
                  </a:cubicBezTo>
                  <a:lnTo>
                    <a:pt x="348234" y="12700"/>
                  </a:lnTo>
                  <a:lnTo>
                    <a:pt x="348234" y="6350"/>
                  </a:lnTo>
                  <a:lnTo>
                    <a:pt x="348234" y="12700"/>
                  </a:lnTo>
                  <a:cubicBezTo>
                    <a:pt x="162941" y="12700"/>
                    <a:pt x="12700" y="162179"/>
                    <a:pt x="12700" y="346583"/>
                  </a:cubicBezTo>
                  <a:close/>
                </a:path>
              </a:pathLst>
            </a:custGeom>
            <a:solidFill>
              <a:srgbClr val="B5C1E2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8143280" y="7716142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AI Assistant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143280" y="8281541"/>
            <a:ext cx="8859441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Instant, responsive support available whenever needed.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519723" y="329058"/>
            <a:ext cx="4277274" cy="9957942"/>
          </a:xfrm>
          <a:custGeom>
            <a:avLst/>
            <a:gdLst/>
            <a:ahLst/>
            <a:cxnLst/>
            <a:rect r="r" b="b" t="t" l="l"/>
            <a:pathLst>
              <a:path h="9957942" w="4277274">
                <a:moveTo>
                  <a:pt x="0" y="0"/>
                </a:moveTo>
                <a:lnTo>
                  <a:pt x="4277274" y="0"/>
                </a:lnTo>
                <a:lnTo>
                  <a:pt x="4277274" y="9957942"/>
                </a:lnTo>
                <a:lnTo>
                  <a:pt x="0" y="99579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0"/>
            <a:ext cx="274320" cy="10287000"/>
            <a:chOff x="0" y="0"/>
            <a:chExt cx="36576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576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66F54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18288000" cy="3544044"/>
            <a:chOff x="0" y="0"/>
            <a:chExt cx="24384000" cy="4725392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84000" cy="4725416"/>
            </a:xfrm>
            <a:custGeom>
              <a:avLst/>
              <a:gdLst/>
              <a:ahLst/>
              <a:cxnLst/>
              <a:rect r="r" b="b" t="t" l="l"/>
              <a:pathLst>
                <a:path h="47254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725416"/>
                  </a:lnTo>
                  <a:lnTo>
                    <a:pt x="0" y="4725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0" t="0" r="-1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4641800"/>
            <a:ext cx="7088237" cy="94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3F6FF3"/>
                </a:solidFill>
                <a:latin typeface="Arimo"/>
                <a:ea typeface="Arimo"/>
                <a:cs typeface="Arimo"/>
                <a:sym typeface="Arimo"/>
              </a:rPr>
              <a:t>The Problem We Solve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6255544"/>
            <a:ext cx="4300538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3F6FF3"/>
                </a:solidFill>
                <a:latin typeface="Arimo"/>
                <a:ea typeface="Arimo"/>
                <a:cs typeface="Arimo"/>
                <a:sym typeface="Arimo"/>
              </a:rPr>
              <a:t>Communication Challenges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6934349"/>
            <a:ext cx="780588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Disabled individuals struggle with digital participation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7487096"/>
            <a:ext cx="7805886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Hearing, speech, and physical impairments create barriers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8493473"/>
            <a:ext cx="780588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Existing systems support only single modes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99401" y="6255544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3F6FF3"/>
                </a:solidFill>
                <a:latin typeface="Arimo"/>
                <a:ea typeface="Arimo"/>
                <a:cs typeface="Arimo"/>
                <a:sym typeface="Arimo"/>
              </a:rPr>
              <a:t>Current System Gaps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99401" y="6934349"/>
            <a:ext cx="780588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No unified, multimodal learning platform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99401" y="7487096"/>
            <a:ext cx="780588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Lack of interactive education tools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99401" y="8039844"/>
            <a:ext cx="780588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Limited AI-driven accessibility solutions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" y="342900"/>
            <a:ext cx="4277274" cy="9957942"/>
          </a:xfrm>
          <a:custGeom>
            <a:avLst/>
            <a:gdLst/>
            <a:ahLst/>
            <a:cxnLst/>
            <a:rect r="r" b="b" t="t" l="l"/>
            <a:pathLst>
              <a:path h="9957942" w="4277274">
                <a:moveTo>
                  <a:pt x="0" y="0"/>
                </a:moveTo>
                <a:lnTo>
                  <a:pt x="4277274" y="0"/>
                </a:lnTo>
                <a:lnTo>
                  <a:pt x="4277274" y="9957942"/>
                </a:lnTo>
                <a:lnTo>
                  <a:pt x="0" y="99579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0"/>
            <a:ext cx="274320" cy="10287000"/>
            <a:chOff x="0" y="0"/>
            <a:chExt cx="36576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576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66F54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57709" y="922139"/>
            <a:ext cx="6841182" cy="902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87"/>
              </a:lnSpc>
            </a:pPr>
            <a:r>
              <a:rPr lang="en-US" sz="5374">
                <a:solidFill>
                  <a:srgbClr val="3F6FF3"/>
                </a:solidFill>
                <a:latin typeface="Arimo"/>
                <a:ea typeface="Arimo"/>
                <a:cs typeface="Arimo"/>
                <a:sym typeface="Arimo"/>
              </a:rPr>
              <a:t>Why This Matters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19609" y="2235399"/>
            <a:ext cx="152400" cy="3404146"/>
            <a:chOff x="0" y="0"/>
            <a:chExt cx="203200" cy="453886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3200" cy="4538853"/>
            </a:xfrm>
            <a:custGeom>
              <a:avLst/>
              <a:gdLst/>
              <a:ahLst/>
              <a:cxnLst/>
              <a:rect r="r" b="b" t="t" l="l"/>
              <a:pathLst>
                <a:path h="4538853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4437253"/>
                  </a:lnTo>
                  <a:cubicBezTo>
                    <a:pt x="203200" y="4493387"/>
                    <a:pt x="157734" y="4538853"/>
                    <a:pt x="101600" y="4538853"/>
                  </a:cubicBezTo>
                  <a:cubicBezTo>
                    <a:pt x="45466" y="4538853"/>
                    <a:pt x="0" y="4493387"/>
                    <a:pt x="0" y="4437253"/>
                  </a:cubicBezTo>
                  <a:close/>
                </a:path>
              </a:pathLst>
            </a:custGeom>
            <a:solidFill>
              <a:srgbClr val="FF2E45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38659" y="2216349"/>
            <a:ext cx="4658618" cy="3442246"/>
            <a:chOff x="0" y="0"/>
            <a:chExt cx="6211490" cy="458966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25400" y="25400"/>
              <a:ext cx="6160770" cy="4538853"/>
            </a:xfrm>
            <a:custGeom>
              <a:avLst/>
              <a:gdLst/>
              <a:ahLst/>
              <a:cxnLst/>
              <a:rect r="r" b="b" t="t" l="l"/>
              <a:pathLst>
                <a:path h="4538853" w="6160770">
                  <a:moveTo>
                    <a:pt x="0" y="243840"/>
                  </a:moveTo>
                  <a:cubicBezTo>
                    <a:pt x="0" y="109220"/>
                    <a:pt x="109474" y="0"/>
                    <a:pt x="244602" y="0"/>
                  </a:cubicBezTo>
                  <a:lnTo>
                    <a:pt x="5916168" y="0"/>
                  </a:lnTo>
                  <a:cubicBezTo>
                    <a:pt x="6051169" y="0"/>
                    <a:pt x="6160770" y="109220"/>
                    <a:pt x="6160770" y="243840"/>
                  </a:cubicBezTo>
                  <a:lnTo>
                    <a:pt x="6160770" y="4295013"/>
                  </a:lnTo>
                  <a:cubicBezTo>
                    <a:pt x="6160770" y="4429633"/>
                    <a:pt x="6051296" y="4538853"/>
                    <a:pt x="5916168" y="4538853"/>
                  </a:cubicBezTo>
                  <a:lnTo>
                    <a:pt x="244602" y="4538853"/>
                  </a:lnTo>
                  <a:cubicBezTo>
                    <a:pt x="109474" y="4538853"/>
                    <a:pt x="0" y="4429760"/>
                    <a:pt x="0" y="4295013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211570" cy="4589653"/>
            </a:xfrm>
            <a:custGeom>
              <a:avLst/>
              <a:gdLst/>
              <a:ahLst/>
              <a:cxnLst/>
              <a:rect r="r" b="b" t="t" l="l"/>
              <a:pathLst>
                <a:path h="4589653" w="6211570">
                  <a:moveTo>
                    <a:pt x="0" y="269240"/>
                  </a:moveTo>
                  <a:cubicBezTo>
                    <a:pt x="0" y="120523"/>
                    <a:pt x="120904" y="0"/>
                    <a:pt x="270002" y="0"/>
                  </a:cubicBezTo>
                  <a:lnTo>
                    <a:pt x="5941568" y="0"/>
                  </a:lnTo>
                  <a:lnTo>
                    <a:pt x="5941568" y="25400"/>
                  </a:lnTo>
                  <a:lnTo>
                    <a:pt x="5941568" y="0"/>
                  </a:lnTo>
                  <a:cubicBezTo>
                    <a:pt x="6090539" y="0"/>
                    <a:pt x="6211570" y="120523"/>
                    <a:pt x="6211570" y="269240"/>
                  </a:cubicBezTo>
                  <a:lnTo>
                    <a:pt x="6186170" y="269240"/>
                  </a:lnTo>
                  <a:lnTo>
                    <a:pt x="6211570" y="269240"/>
                  </a:lnTo>
                  <a:lnTo>
                    <a:pt x="6211570" y="4320413"/>
                  </a:lnTo>
                  <a:lnTo>
                    <a:pt x="6186170" y="4320413"/>
                  </a:lnTo>
                  <a:lnTo>
                    <a:pt x="6211570" y="4320413"/>
                  </a:lnTo>
                  <a:cubicBezTo>
                    <a:pt x="6211570" y="4469130"/>
                    <a:pt x="6090666" y="4589653"/>
                    <a:pt x="5941568" y="4589653"/>
                  </a:cubicBezTo>
                  <a:lnTo>
                    <a:pt x="5941568" y="4564253"/>
                  </a:lnTo>
                  <a:lnTo>
                    <a:pt x="5941568" y="4589653"/>
                  </a:lnTo>
                  <a:lnTo>
                    <a:pt x="270002" y="4589653"/>
                  </a:lnTo>
                  <a:lnTo>
                    <a:pt x="270002" y="4564253"/>
                  </a:lnTo>
                  <a:lnTo>
                    <a:pt x="270002" y="4589653"/>
                  </a:lnTo>
                  <a:cubicBezTo>
                    <a:pt x="120904" y="4589653"/>
                    <a:pt x="0" y="4469257"/>
                    <a:pt x="0" y="4320413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4320413"/>
                  </a:lnTo>
                  <a:lnTo>
                    <a:pt x="25400" y="4320413"/>
                  </a:lnTo>
                  <a:lnTo>
                    <a:pt x="50800" y="4320413"/>
                  </a:lnTo>
                  <a:cubicBezTo>
                    <a:pt x="50800" y="4440936"/>
                    <a:pt x="148844" y="4538853"/>
                    <a:pt x="270002" y="4538853"/>
                  </a:cubicBezTo>
                  <a:lnTo>
                    <a:pt x="5941568" y="4538853"/>
                  </a:lnTo>
                  <a:cubicBezTo>
                    <a:pt x="6062726" y="4538853"/>
                    <a:pt x="6160770" y="4440936"/>
                    <a:pt x="6160770" y="4320413"/>
                  </a:cubicBezTo>
                  <a:lnTo>
                    <a:pt x="6160770" y="269240"/>
                  </a:lnTo>
                  <a:cubicBezTo>
                    <a:pt x="6160770" y="148717"/>
                    <a:pt x="6062726" y="50800"/>
                    <a:pt x="5941568" y="50800"/>
                  </a:cubicBezTo>
                  <a:lnTo>
                    <a:pt x="270002" y="50800"/>
                  </a:lnTo>
                  <a:lnTo>
                    <a:pt x="270002" y="25400"/>
                  </a:lnTo>
                  <a:lnTo>
                    <a:pt x="270002" y="50800"/>
                  </a:lnTo>
                  <a:cubicBezTo>
                    <a:pt x="148844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FF2E45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383655" y="2518470"/>
            <a:ext cx="3420516" cy="456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87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Digital Equality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83655" y="3043386"/>
            <a:ext cx="3882926" cy="228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25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Removes barriers for users with hearing, speech, or physical impairments, ensuring equal access to education and communication.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832722" y="2216349"/>
            <a:ext cx="4658618" cy="3442246"/>
            <a:chOff x="0" y="0"/>
            <a:chExt cx="6211490" cy="458966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5400" y="25400"/>
              <a:ext cx="6160770" cy="4538853"/>
            </a:xfrm>
            <a:custGeom>
              <a:avLst/>
              <a:gdLst/>
              <a:ahLst/>
              <a:cxnLst/>
              <a:rect r="r" b="b" t="t" l="l"/>
              <a:pathLst>
                <a:path h="4538853" w="6160770">
                  <a:moveTo>
                    <a:pt x="0" y="243840"/>
                  </a:moveTo>
                  <a:cubicBezTo>
                    <a:pt x="0" y="109220"/>
                    <a:pt x="109474" y="0"/>
                    <a:pt x="244602" y="0"/>
                  </a:cubicBezTo>
                  <a:lnTo>
                    <a:pt x="5916168" y="0"/>
                  </a:lnTo>
                  <a:cubicBezTo>
                    <a:pt x="6051169" y="0"/>
                    <a:pt x="6160770" y="109220"/>
                    <a:pt x="6160770" y="243840"/>
                  </a:cubicBezTo>
                  <a:lnTo>
                    <a:pt x="6160770" y="4295013"/>
                  </a:lnTo>
                  <a:cubicBezTo>
                    <a:pt x="6160770" y="4429633"/>
                    <a:pt x="6051296" y="4538853"/>
                    <a:pt x="5916168" y="4538853"/>
                  </a:cubicBezTo>
                  <a:lnTo>
                    <a:pt x="244602" y="4538853"/>
                  </a:lnTo>
                  <a:cubicBezTo>
                    <a:pt x="109474" y="4538853"/>
                    <a:pt x="0" y="4429760"/>
                    <a:pt x="0" y="4295013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211570" cy="4589653"/>
            </a:xfrm>
            <a:custGeom>
              <a:avLst/>
              <a:gdLst/>
              <a:ahLst/>
              <a:cxnLst/>
              <a:rect r="r" b="b" t="t" l="l"/>
              <a:pathLst>
                <a:path h="4589653" w="6211570">
                  <a:moveTo>
                    <a:pt x="0" y="269240"/>
                  </a:moveTo>
                  <a:cubicBezTo>
                    <a:pt x="0" y="120523"/>
                    <a:pt x="120904" y="0"/>
                    <a:pt x="270002" y="0"/>
                  </a:cubicBezTo>
                  <a:lnTo>
                    <a:pt x="5941568" y="0"/>
                  </a:lnTo>
                  <a:lnTo>
                    <a:pt x="5941568" y="25400"/>
                  </a:lnTo>
                  <a:lnTo>
                    <a:pt x="5941568" y="0"/>
                  </a:lnTo>
                  <a:cubicBezTo>
                    <a:pt x="6090539" y="0"/>
                    <a:pt x="6211570" y="120523"/>
                    <a:pt x="6211570" y="269240"/>
                  </a:cubicBezTo>
                  <a:lnTo>
                    <a:pt x="6186170" y="269240"/>
                  </a:lnTo>
                  <a:lnTo>
                    <a:pt x="6211570" y="269240"/>
                  </a:lnTo>
                  <a:lnTo>
                    <a:pt x="6211570" y="4320413"/>
                  </a:lnTo>
                  <a:lnTo>
                    <a:pt x="6186170" y="4320413"/>
                  </a:lnTo>
                  <a:lnTo>
                    <a:pt x="6211570" y="4320413"/>
                  </a:lnTo>
                  <a:cubicBezTo>
                    <a:pt x="6211570" y="4469130"/>
                    <a:pt x="6090666" y="4589653"/>
                    <a:pt x="5941568" y="4589653"/>
                  </a:cubicBezTo>
                  <a:lnTo>
                    <a:pt x="5941568" y="4564253"/>
                  </a:lnTo>
                  <a:lnTo>
                    <a:pt x="5941568" y="4589653"/>
                  </a:lnTo>
                  <a:lnTo>
                    <a:pt x="270002" y="4589653"/>
                  </a:lnTo>
                  <a:lnTo>
                    <a:pt x="270002" y="4564253"/>
                  </a:lnTo>
                  <a:lnTo>
                    <a:pt x="270002" y="4589653"/>
                  </a:lnTo>
                  <a:cubicBezTo>
                    <a:pt x="120904" y="4589653"/>
                    <a:pt x="0" y="4469257"/>
                    <a:pt x="0" y="4320413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4320413"/>
                  </a:lnTo>
                  <a:lnTo>
                    <a:pt x="25400" y="4320413"/>
                  </a:lnTo>
                  <a:lnTo>
                    <a:pt x="50800" y="4320413"/>
                  </a:lnTo>
                  <a:cubicBezTo>
                    <a:pt x="50800" y="4440936"/>
                    <a:pt x="148844" y="4538853"/>
                    <a:pt x="270002" y="4538853"/>
                  </a:cubicBezTo>
                  <a:lnTo>
                    <a:pt x="5941568" y="4538853"/>
                  </a:lnTo>
                  <a:cubicBezTo>
                    <a:pt x="6062726" y="4538853"/>
                    <a:pt x="6160770" y="4440936"/>
                    <a:pt x="6160770" y="4320413"/>
                  </a:cubicBezTo>
                  <a:lnTo>
                    <a:pt x="6160770" y="269240"/>
                  </a:lnTo>
                  <a:cubicBezTo>
                    <a:pt x="6160770" y="148717"/>
                    <a:pt x="6062726" y="50800"/>
                    <a:pt x="5941568" y="50800"/>
                  </a:cubicBezTo>
                  <a:lnTo>
                    <a:pt x="270002" y="50800"/>
                  </a:lnTo>
                  <a:lnTo>
                    <a:pt x="270002" y="25400"/>
                  </a:lnTo>
                  <a:lnTo>
                    <a:pt x="270002" y="50800"/>
                  </a:lnTo>
                  <a:cubicBezTo>
                    <a:pt x="148844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EB92AB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5813672" y="2235399"/>
            <a:ext cx="152400" cy="3404146"/>
            <a:chOff x="0" y="0"/>
            <a:chExt cx="203200" cy="453886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3200" cy="4538853"/>
            </a:xfrm>
            <a:custGeom>
              <a:avLst/>
              <a:gdLst/>
              <a:ahLst/>
              <a:cxnLst/>
              <a:rect r="r" b="b" t="t" l="l"/>
              <a:pathLst>
                <a:path h="4538853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4437253"/>
                  </a:lnTo>
                  <a:cubicBezTo>
                    <a:pt x="203200" y="4493387"/>
                    <a:pt x="157734" y="4538853"/>
                    <a:pt x="101600" y="4538853"/>
                  </a:cubicBezTo>
                  <a:cubicBezTo>
                    <a:pt x="45466" y="4538853"/>
                    <a:pt x="0" y="4493387"/>
                    <a:pt x="0" y="4437253"/>
                  </a:cubicBezTo>
                  <a:close/>
                </a:path>
              </a:pathLst>
            </a:custGeom>
            <a:solidFill>
              <a:srgbClr val="EB92AB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6277719" y="2518470"/>
            <a:ext cx="3420516" cy="456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87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Inclusive Education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277719" y="3043386"/>
            <a:ext cx="3882926" cy="1846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25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Adapts to individual needs with flexible interaction modes, making learning accessible and engaging for everyone.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38659" y="5894040"/>
            <a:ext cx="4658618" cy="3442246"/>
            <a:chOff x="0" y="0"/>
            <a:chExt cx="6211490" cy="458966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25400" y="25400"/>
              <a:ext cx="6160770" cy="4538853"/>
            </a:xfrm>
            <a:custGeom>
              <a:avLst/>
              <a:gdLst/>
              <a:ahLst/>
              <a:cxnLst/>
              <a:rect r="r" b="b" t="t" l="l"/>
              <a:pathLst>
                <a:path h="4538853" w="6160770">
                  <a:moveTo>
                    <a:pt x="0" y="243840"/>
                  </a:moveTo>
                  <a:cubicBezTo>
                    <a:pt x="0" y="109220"/>
                    <a:pt x="109474" y="0"/>
                    <a:pt x="244602" y="0"/>
                  </a:cubicBezTo>
                  <a:lnTo>
                    <a:pt x="5916168" y="0"/>
                  </a:lnTo>
                  <a:cubicBezTo>
                    <a:pt x="6051169" y="0"/>
                    <a:pt x="6160770" y="109220"/>
                    <a:pt x="6160770" y="243840"/>
                  </a:cubicBezTo>
                  <a:lnTo>
                    <a:pt x="6160770" y="4295013"/>
                  </a:lnTo>
                  <a:cubicBezTo>
                    <a:pt x="6160770" y="4429633"/>
                    <a:pt x="6051296" y="4538853"/>
                    <a:pt x="5916168" y="4538853"/>
                  </a:cubicBezTo>
                  <a:lnTo>
                    <a:pt x="244602" y="4538853"/>
                  </a:lnTo>
                  <a:cubicBezTo>
                    <a:pt x="109474" y="4538853"/>
                    <a:pt x="0" y="4429760"/>
                    <a:pt x="0" y="4295013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211570" cy="4589653"/>
            </a:xfrm>
            <a:custGeom>
              <a:avLst/>
              <a:gdLst/>
              <a:ahLst/>
              <a:cxnLst/>
              <a:rect r="r" b="b" t="t" l="l"/>
              <a:pathLst>
                <a:path h="4589653" w="6211570">
                  <a:moveTo>
                    <a:pt x="0" y="269240"/>
                  </a:moveTo>
                  <a:cubicBezTo>
                    <a:pt x="0" y="120523"/>
                    <a:pt x="120904" y="0"/>
                    <a:pt x="270002" y="0"/>
                  </a:cubicBezTo>
                  <a:lnTo>
                    <a:pt x="5941568" y="0"/>
                  </a:lnTo>
                  <a:lnTo>
                    <a:pt x="5941568" y="25400"/>
                  </a:lnTo>
                  <a:lnTo>
                    <a:pt x="5941568" y="0"/>
                  </a:lnTo>
                  <a:cubicBezTo>
                    <a:pt x="6090539" y="0"/>
                    <a:pt x="6211570" y="120523"/>
                    <a:pt x="6211570" y="269240"/>
                  </a:cubicBezTo>
                  <a:lnTo>
                    <a:pt x="6186170" y="269240"/>
                  </a:lnTo>
                  <a:lnTo>
                    <a:pt x="6211570" y="269240"/>
                  </a:lnTo>
                  <a:lnTo>
                    <a:pt x="6211570" y="4320413"/>
                  </a:lnTo>
                  <a:lnTo>
                    <a:pt x="6186170" y="4320413"/>
                  </a:lnTo>
                  <a:lnTo>
                    <a:pt x="6211570" y="4320413"/>
                  </a:lnTo>
                  <a:cubicBezTo>
                    <a:pt x="6211570" y="4469130"/>
                    <a:pt x="6090666" y="4589653"/>
                    <a:pt x="5941568" y="4589653"/>
                  </a:cubicBezTo>
                  <a:lnTo>
                    <a:pt x="5941568" y="4564253"/>
                  </a:lnTo>
                  <a:lnTo>
                    <a:pt x="5941568" y="4589653"/>
                  </a:lnTo>
                  <a:lnTo>
                    <a:pt x="270002" y="4589653"/>
                  </a:lnTo>
                  <a:lnTo>
                    <a:pt x="270002" y="4564253"/>
                  </a:lnTo>
                  <a:lnTo>
                    <a:pt x="270002" y="4589653"/>
                  </a:lnTo>
                  <a:cubicBezTo>
                    <a:pt x="120904" y="4589653"/>
                    <a:pt x="0" y="4469257"/>
                    <a:pt x="0" y="4320413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4320413"/>
                  </a:lnTo>
                  <a:lnTo>
                    <a:pt x="25400" y="4320413"/>
                  </a:lnTo>
                  <a:lnTo>
                    <a:pt x="50800" y="4320413"/>
                  </a:lnTo>
                  <a:cubicBezTo>
                    <a:pt x="50800" y="4440936"/>
                    <a:pt x="148844" y="4538853"/>
                    <a:pt x="270002" y="4538853"/>
                  </a:cubicBezTo>
                  <a:lnTo>
                    <a:pt x="5941568" y="4538853"/>
                  </a:lnTo>
                  <a:cubicBezTo>
                    <a:pt x="6062726" y="4538853"/>
                    <a:pt x="6160770" y="4440936"/>
                    <a:pt x="6160770" y="4320413"/>
                  </a:cubicBezTo>
                  <a:lnTo>
                    <a:pt x="6160770" y="269240"/>
                  </a:lnTo>
                  <a:cubicBezTo>
                    <a:pt x="6160770" y="148717"/>
                    <a:pt x="6062726" y="50800"/>
                    <a:pt x="5941568" y="50800"/>
                  </a:cubicBezTo>
                  <a:lnTo>
                    <a:pt x="270002" y="50800"/>
                  </a:lnTo>
                  <a:lnTo>
                    <a:pt x="270002" y="25400"/>
                  </a:lnTo>
                  <a:lnTo>
                    <a:pt x="270002" y="50800"/>
                  </a:lnTo>
                  <a:cubicBezTo>
                    <a:pt x="148844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FF7684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19609" y="5913090"/>
            <a:ext cx="152400" cy="3404146"/>
            <a:chOff x="0" y="0"/>
            <a:chExt cx="203200" cy="453886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3200" cy="4538853"/>
            </a:xfrm>
            <a:custGeom>
              <a:avLst/>
              <a:gdLst/>
              <a:ahLst/>
              <a:cxnLst/>
              <a:rect r="r" b="b" t="t" l="l"/>
              <a:pathLst>
                <a:path h="4538853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4437253"/>
                  </a:lnTo>
                  <a:cubicBezTo>
                    <a:pt x="203200" y="4493387"/>
                    <a:pt x="157734" y="4538853"/>
                    <a:pt x="101600" y="4538853"/>
                  </a:cubicBezTo>
                  <a:cubicBezTo>
                    <a:pt x="45466" y="4538853"/>
                    <a:pt x="0" y="4493387"/>
                    <a:pt x="0" y="4437253"/>
                  </a:cubicBezTo>
                  <a:close/>
                </a:path>
              </a:pathLst>
            </a:custGeom>
            <a:solidFill>
              <a:srgbClr val="FF7684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383655" y="6196161"/>
            <a:ext cx="3420516" cy="456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87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AI-Driven Accessibility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83655" y="6721079"/>
            <a:ext cx="3882926" cy="228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25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Leverages cutting-edge AI to create innovative, human-centered solutions that respect and empower differently-abled learners.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" y="342900"/>
            <a:ext cx="4277274" cy="9957942"/>
          </a:xfrm>
          <a:custGeom>
            <a:avLst/>
            <a:gdLst/>
            <a:ahLst/>
            <a:cxnLst/>
            <a:rect r="r" b="b" t="t" l="l"/>
            <a:pathLst>
              <a:path h="9957942" w="4277274">
                <a:moveTo>
                  <a:pt x="0" y="0"/>
                </a:moveTo>
                <a:lnTo>
                  <a:pt x="4277274" y="0"/>
                </a:lnTo>
                <a:lnTo>
                  <a:pt x="4277274" y="9957942"/>
                </a:lnTo>
                <a:lnTo>
                  <a:pt x="0" y="99579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0"/>
            <a:ext cx="274320" cy="10287000"/>
            <a:chOff x="0" y="0"/>
            <a:chExt cx="36576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576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66F5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005012"/>
            <a:ext cx="7088237" cy="94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3F6FF3"/>
                </a:solidFill>
                <a:latin typeface="Arimo"/>
                <a:ea typeface="Arimo"/>
                <a:cs typeface="Arimo"/>
                <a:sym typeface="Arimo"/>
              </a:rPr>
              <a:t>What We're Building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7475" y="3510409"/>
            <a:ext cx="647402" cy="647402"/>
            <a:chOff x="0" y="0"/>
            <a:chExt cx="863203" cy="86320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340233"/>
                  </a:moveTo>
                  <a:cubicBezTo>
                    <a:pt x="0" y="152273"/>
                    <a:pt x="152273" y="0"/>
                    <a:pt x="340233" y="0"/>
                  </a:cubicBezTo>
                  <a:lnTo>
                    <a:pt x="510286" y="0"/>
                  </a:lnTo>
                  <a:cubicBezTo>
                    <a:pt x="698246" y="0"/>
                    <a:pt x="850519" y="152273"/>
                    <a:pt x="850519" y="340233"/>
                  </a:cubicBezTo>
                  <a:lnTo>
                    <a:pt x="850519" y="510286"/>
                  </a:lnTo>
                  <a:cubicBezTo>
                    <a:pt x="850519" y="698246"/>
                    <a:pt x="698246" y="850519"/>
                    <a:pt x="510286" y="850519"/>
                  </a:cubicBezTo>
                  <a:lnTo>
                    <a:pt x="340233" y="850519"/>
                  </a:lnTo>
                  <a:cubicBezTo>
                    <a:pt x="152273" y="850519"/>
                    <a:pt x="0" y="698119"/>
                    <a:pt x="0" y="510286"/>
                  </a:cubicBezTo>
                  <a:close/>
                </a:path>
              </a:pathLst>
            </a:custGeom>
            <a:solidFill>
              <a:srgbClr val="CFDBFC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346583"/>
                  </a:moveTo>
                  <a:cubicBezTo>
                    <a:pt x="0" y="155194"/>
                    <a:pt x="155194" y="0"/>
                    <a:pt x="346583" y="0"/>
                  </a:cubicBezTo>
                  <a:lnTo>
                    <a:pt x="516636" y="0"/>
                  </a:lnTo>
                  <a:lnTo>
                    <a:pt x="516636" y="6350"/>
                  </a:lnTo>
                  <a:lnTo>
                    <a:pt x="516636" y="0"/>
                  </a:lnTo>
                  <a:lnTo>
                    <a:pt x="516636" y="6350"/>
                  </a:lnTo>
                  <a:lnTo>
                    <a:pt x="516636" y="0"/>
                  </a:lnTo>
                  <a:cubicBezTo>
                    <a:pt x="708025" y="0"/>
                    <a:pt x="863219" y="155194"/>
                    <a:pt x="863219" y="346583"/>
                  </a:cubicBezTo>
                  <a:lnTo>
                    <a:pt x="856869" y="346583"/>
                  </a:lnTo>
                  <a:lnTo>
                    <a:pt x="863219" y="346583"/>
                  </a:lnTo>
                  <a:lnTo>
                    <a:pt x="863219" y="516636"/>
                  </a:lnTo>
                  <a:lnTo>
                    <a:pt x="856869" y="516636"/>
                  </a:lnTo>
                  <a:lnTo>
                    <a:pt x="863219" y="516636"/>
                  </a:lnTo>
                  <a:cubicBezTo>
                    <a:pt x="863219" y="708025"/>
                    <a:pt x="708025" y="863219"/>
                    <a:pt x="516636" y="863219"/>
                  </a:cubicBezTo>
                  <a:lnTo>
                    <a:pt x="516636" y="856869"/>
                  </a:lnTo>
                  <a:lnTo>
                    <a:pt x="516636" y="863219"/>
                  </a:lnTo>
                  <a:lnTo>
                    <a:pt x="346583" y="863219"/>
                  </a:lnTo>
                  <a:lnTo>
                    <a:pt x="346583" y="856869"/>
                  </a:lnTo>
                  <a:lnTo>
                    <a:pt x="346583" y="863219"/>
                  </a:lnTo>
                  <a:cubicBezTo>
                    <a:pt x="155194" y="863219"/>
                    <a:pt x="0" y="708025"/>
                    <a:pt x="0" y="516636"/>
                  </a:cubicBezTo>
                  <a:lnTo>
                    <a:pt x="0" y="346583"/>
                  </a:lnTo>
                  <a:lnTo>
                    <a:pt x="6350" y="346583"/>
                  </a:lnTo>
                  <a:lnTo>
                    <a:pt x="0" y="346583"/>
                  </a:lnTo>
                  <a:moveTo>
                    <a:pt x="12700" y="346583"/>
                  </a:moveTo>
                  <a:lnTo>
                    <a:pt x="12700" y="516636"/>
                  </a:lnTo>
                  <a:lnTo>
                    <a:pt x="6350" y="516636"/>
                  </a:lnTo>
                  <a:lnTo>
                    <a:pt x="12700" y="516636"/>
                  </a:lnTo>
                  <a:cubicBezTo>
                    <a:pt x="12700" y="701040"/>
                    <a:pt x="162179" y="850519"/>
                    <a:pt x="346583" y="850519"/>
                  </a:cubicBezTo>
                  <a:lnTo>
                    <a:pt x="516636" y="850519"/>
                  </a:lnTo>
                  <a:cubicBezTo>
                    <a:pt x="701040" y="850519"/>
                    <a:pt x="850519" y="701040"/>
                    <a:pt x="850519" y="516636"/>
                  </a:cubicBezTo>
                  <a:lnTo>
                    <a:pt x="850519" y="346583"/>
                  </a:lnTo>
                  <a:cubicBezTo>
                    <a:pt x="850519" y="162179"/>
                    <a:pt x="701040" y="12700"/>
                    <a:pt x="516636" y="12700"/>
                  </a:cubicBezTo>
                  <a:lnTo>
                    <a:pt x="346583" y="12700"/>
                  </a:lnTo>
                  <a:lnTo>
                    <a:pt x="346583" y="6350"/>
                  </a:lnTo>
                  <a:lnTo>
                    <a:pt x="346583" y="12700"/>
                  </a:lnTo>
                  <a:cubicBezTo>
                    <a:pt x="162179" y="12700"/>
                    <a:pt x="12700" y="162179"/>
                    <a:pt x="12700" y="346583"/>
                  </a:cubicBezTo>
                  <a:close/>
                </a:path>
              </a:pathLst>
            </a:custGeom>
            <a:solidFill>
              <a:srgbClr val="B5C1E2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98575" y="3606404"/>
            <a:ext cx="425202" cy="493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13632" y="3574405"/>
            <a:ext cx="5187851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AI Tutor with Multimodal Support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13632" y="4139804"/>
            <a:ext cx="7053114" cy="144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Intelligent educational system that understands and responds through text, speech, and sign language seamlessly.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316342" y="3510409"/>
            <a:ext cx="647403" cy="647402"/>
            <a:chOff x="0" y="0"/>
            <a:chExt cx="863203" cy="86320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340233"/>
                  </a:moveTo>
                  <a:cubicBezTo>
                    <a:pt x="0" y="152273"/>
                    <a:pt x="152273" y="0"/>
                    <a:pt x="340233" y="0"/>
                  </a:cubicBezTo>
                  <a:lnTo>
                    <a:pt x="510286" y="0"/>
                  </a:lnTo>
                  <a:cubicBezTo>
                    <a:pt x="698246" y="0"/>
                    <a:pt x="850519" y="152273"/>
                    <a:pt x="850519" y="340233"/>
                  </a:cubicBezTo>
                  <a:lnTo>
                    <a:pt x="850519" y="510286"/>
                  </a:lnTo>
                  <a:cubicBezTo>
                    <a:pt x="850519" y="698246"/>
                    <a:pt x="698246" y="850519"/>
                    <a:pt x="510286" y="850519"/>
                  </a:cubicBezTo>
                  <a:lnTo>
                    <a:pt x="340233" y="850519"/>
                  </a:lnTo>
                  <a:cubicBezTo>
                    <a:pt x="152273" y="850519"/>
                    <a:pt x="0" y="698119"/>
                    <a:pt x="0" y="510286"/>
                  </a:cubicBezTo>
                  <a:close/>
                </a:path>
              </a:pathLst>
            </a:custGeom>
            <a:solidFill>
              <a:srgbClr val="CFDBFC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346583"/>
                  </a:moveTo>
                  <a:cubicBezTo>
                    <a:pt x="0" y="155194"/>
                    <a:pt x="155194" y="0"/>
                    <a:pt x="346583" y="0"/>
                  </a:cubicBezTo>
                  <a:lnTo>
                    <a:pt x="516636" y="0"/>
                  </a:lnTo>
                  <a:lnTo>
                    <a:pt x="516636" y="6350"/>
                  </a:lnTo>
                  <a:lnTo>
                    <a:pt x="516636" y="0"/>
                  </a:lnTo>
                  <a:lnTo>
                    <a:pt x="516636" y="6350"/>
                  </a:lnTo>
                  <a:lnTo>
                    <a:pt x="516636" y="0"/>
                  </a:lnTo>
                  <a:cubicBezTo>
                    <a:pt x="708025" y="0"/>
                    <a:pt x="863219" y="155194"/>
                    <a:pt x="863219" y="346583"/>
                  </a:cubicBezTo>
                  <a:lnTo>
                    <a:pt x="856869" y="346583"/>
                  </a:lnTo>
                  <a:lnTo>
                    <a:pt x="863219" y="346583"/>
                  </a:lnTo>
                  <a:lnTo>
                    <a:pt x="863219" y="516636"/>
                  </a:lnTo>
                  <a:lnTo>
                    <a:pt x="856869" y="516636"/>
                  </a:lnTo>
                  <a:lnTo>
                    <a:pt x="863219" y="516636"/>
                  </a:lnTo>
                  <a:cubicBezTo>
                    <a:pt x="863219" y="708025"/>
                    <a:pt x="708025" y="863219"/>
                    <a:pt x="516636" y="863219"/>
                  </a:cubicBezTo>
                  <a:lnTo>
                    <a:pt x="516636" y="856869"/>
                  </a:lnTo>
                  <a:lnTo>
                    <a:pt x="516636" y="863219"/>
                  </a:lnTo>
                  <a:lnTo>
                    <a:pt x="346583" y="863219"/>
                  </a:lnTo>
                  <a:lnTo>
                    <a:pt x="346583" y="856869"/>
                  </a:lnTo>
                  <a:lnTo>
                    <a:pt x="346583" y="863219"/>
                  </a:lnTo>
                  <a:cubicBezTo>
                    <a:pt x="155194" y="863219"/>
                    <a:pt x="0" y="708025"/>
                    <a:pt x="0" y="516636"/>
                  </a:cubicBezTo>
                  <a:lnTo>
                    <a:pt x="0" y="346583"/>
                  </a:lnTo>
                  <a:lnTo>
                    <a:pt x="6350" y="346583"/>
                  </a:lnTo>
                  <a:lnTo>
                    <a:pt x="0" y="346583"/>
                  </a:lnTo>
                  <a:moveTo>
                    <a:pt x="12700" y="346583"/>
                  </a:moveTo>
                  <a:lnTo>
                    <a:pt x="12700" y="516636"/>
                  </a:lnTo>
                  <a:lnTo>
                    <a:pt x="6350" y="516636"/>
                  </a:lnTo>
                  <a:lnTo>
                    <a:pt x="12700" y="516636"/>
                  </a:lnTo>
                  <a:cubicBezTo>
                    <a:pt x="12700" y="701040"/>
                    <a:pt x="162179" y="850519"/>
                    <a:pt x="346583" y="850519"/>
                  </a:cubicBezTo>
                  <a:lnTo>
                    <a:pt x="516636" y="850519"/>
                  </a:lnTo>
                  <a:cubicBezTo>
                    <a:pt x="701040" y="850519"/>
                    <a:pt x="850519" y="701040"/>
                    <a:pt x="850519" y="516636"/>
                  </a:cubicBezTo>
                  <a:lnTo>
                    <a:pt x="850519" y="346583"/>
                  </a:lnTo>
                  <a:cubicBezTo>
                    <a:pt x="850519" y="162179"/>
                    <a:pt x="701040" y="12700"/>
                    <a:pt x="516636" y="12700"/>
                  </a:cubicBezTo>
                  <a:lnTo>
                    <a:pt x="346583" y="12700"/>
                  </a:lnTo>
                  <a:lnTo>
                    <a:pt x="346583" y="6350"/>
                  </a:lnTo>
                  <a:lnTo>
                    <a:pt x="346583" y="12700"/>
                  </a:lnTo>
                  <a:cubicBezTo>
                    <a:pt x="162179" y="12700"/>
                    <a:pt x="12700" y="162179"/>
                    <a:pt x="12700" y="346583"/>
                  </a:cubicBezTo>
                  <a:close/>
                </a:path>
              </a:pathLst>
            </a:custGeom>
            <a:solidFill>
              <a:srgbClr val="B5C1E2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427444" y="3606404"/>
            <a:ext cx="425203" cy="493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42500" y="3574405"/>
            <a:ext cx="4198887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Collaborative Chat System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42500" y="4139804"/>
            <a:ext cx="7053262" cy="144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Enables user-to-user and user-to-AI conversations with real-time translation across communication modes.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87475" y="6148685"/>
            <a:ext cx="647402" cy="647403"/>
            <a:chOff x="0" y="0"/>
            <a:chExt cx="863203" cy="86320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340233"/>
                  </a:moveTo>
                  <a:cubicBezTo>
                    <a:pt x="0" y="152273"/>
                    <a:pt x="152273" y="0"/>
                    <a:pt x="340233" y="0"/>
                  </a:cubicBezTo>
                  <a:lnTo>
                    <a:pt x="510286" y="0"/>
                  </a:lnTo>
                  <a:cubicBezTo>
                    <a:pt x="698246" y="0"/>
                    <a:pt x="850519" y="152273"/>
                    <a:pt x="850519" y="340233"/>
                  </a:cubicBezTo>
                  <a:lnTo>
                    <a:pt x="850519" y="510286"/>
                  </a:lnTo>
                  <a:cubicBezTo>
                    <a:pt x="850519" y="698246"/>
                    <a:pt x="698246" y="850519"/>
                    <a:pt x="510286" y="850519"/>
                  </a:cubicBezTo>
                  <a:lnTo>
                    <a:pt x="340233" y="850519"/>
                  </a:lnTo>
                  <a:cubicBezTo>
                    <a:pt x="152273" y="850519"/>
                    <a:pt x="0" y="698119"/>
                    <a:pt x="0" y="510286"/>
                  </a:cubicBezTo>
                  <a:close/>
                </a:path>
              </a:pathLst>
            </a:custGeom>
            <a:solidFill>
              <a:srgbClr val="CFDBFC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346583"/>
                  </a:moveTo>
                  <a:cubicBezTo>
                    <a:pt x="0" y="155194"/>
                    <a:pt x="155194" y="0"/>
                    <a:pt x="346583" y="0"/>
                  </a:cubicBezTo>
                  <a:lnTo>
                    <a:pt x="516636" y="0"/>
                  </a:lnTo>
                  <a:lnTo>
                    <a:pt x="516636" y="6350"/>
                  </a:lnTo>
                  <a:lnTo>
                    <a:pt x="516636" y="0"/>
                  </a:lnTo>
                  <a:lnTo>
                    <a:pt x="516636" y="6350"/>
                  </a:lnTo>
                  <a:lnTo>
                    <a:pt x="516636" y="0"/>
                  </a:lnTo>
                  <a:cubicBezTo>
                    <a:pt x="708025" y="0"/>
                    <a:pt x="863219" y="155194"/>
                    <a:pt x="863219" y="346583"/>
                  </a:cubicBezTo>
                  <a:lnTo>
                    <a:pt x="856869" y="346583"/>
                  </a:lnTo>
                  <a:lnTo>
                    <a:pt x="863219" y="346583"/>
                  </a:lnTo>
                  <a:lnTo>
                    <a:pt x="863219" y="516636"/>
                  </a:lnTo>
                  <a:lnTo>
                    <a:pt x="856869" y="516636"/>
                  </a:lnTo>
                  <a:lnTo>
                    <a:pt x="863219" y="516636"/>
                  </a:lnTo>
                  <a:cubicBezTo>
                    <a:pt x="863219" y="708025"/>
                    <a:pt x="708025" y="863219"/>
                    <a:pt x="516636" y="863219"/>
                  </a:cubicBezTo>
                  <a:lnTo>
                    <a:pt x="516636" y="856869"/>
                  </a:lnTo>
                  <a:lnTo>
                    <a:pt x="516636" y="863219"/>
                  </a:lnTo>
                  <a:lnTo>
                    <a:pt x="346583" y="863219"/>
                  </a:lnTo>
                  <a:lnTo>
                    <a:pt x="346583" y="856869"/>
                  </a:lnTo>
                  <a:lnTo>
                    <a:pt x="346583" y="863219"/>
                  </a:lnTo>
                  <a:cubicBezTo>
                    <a:pt x="155194" y="863219"/>
                    <a:pt x="0" y="708025"/>
                    <a:pt x="0" y="516636"/>
                  </a:cubicBezTo>
                  <a:lnTo>
                    <a:pt x="0" y="346583"/>
                  </a:lnTo>
                  <a:lnTo>
                    <a:pt x="6350" y="346583"/>
                  </a:lnTo>
                  <a:lnTo>
                    <a:pt x="0" y="346583"/>
                  </a:lnTo>
                  <a:moveTo>
                    <a:pt x="12700" y="346583"/>
                  </a:moveTo>
                  <a:lnTo>
                    <a:pt x="12700" y="516636"/>
                  </a:lnTo>
                  <a:lnTo>
                    <a:pt x="6350" y="516636"/>
                  </a:lnTo>
                  <a:lnTo>
                    <a:pt x="12700" y="516636"/>
                  </a:lnTo>
                  <a:cubicBezTo>
                    <a:pt x="12700" y="701040"/>
                    <a:pt x="162179" y="850519"/>
                    <a:pt x="346583" y="850519"/>
                  </a:cubicBezTo>
                  <a:lnTo>
                    <a:pt x="516636" y="850519"/>
                  </a:lnTo>
                  <a:cubicBezTo>
                    <a:pt x="701040" y="850519"/>
                    <a:pt x="850519" y="701040"/>
                    <a:pt x="850519" y="516636"/>
                  </a:cubicBezTo>
                  <a:lnTo>
                    <a:pt x="850519" y="346583"/>
                  </a:lnTo>
                  <a:cubicBezTo>
                    <a:pt x="850519" y="162179"/>
                    <a:pt x="701040" y="12700"/>
                    <a:pt x="516636" y="12700"/>
                  </a:cubicBezTo>
                  <a:lnTo>
                    <a:pt x="346583" y="12700"/>
                  </a:lnTo>
                  <a:lnTo>
                    <a:pt x="346583" y="6350"/>
                  </a:lnTo>
                  <a:lnTo>
                    <a:pt x="346583" y="12700"/>
                  </a:lnTo>
                  <a:cubicBezTo>
                    <a:pt x="162179" y="12700"/>
                    <a:pt x="12700" y="162179"/>
                    <a:pt x="12700" y="346583"/>
                  </a:cubicBezTo>
                  <a:close/>
                </a:path>
              </a:pathLst>
            </a:custGeom>
            <a:solidFill>
              <a:srgbClr val="B5C1E2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098575" y="6244679"/>
            <a:ext cx="425202" cy="493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913632" y="6212681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24/7 AI Assistance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913632" y="6778079"/>
            <a:ext cx="7053114" cy="144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Responsive chatbot providing instant support, learning help, and accessibility guidance whenever users need it.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316342" y="6148685"/>
            <a:ext cx="647403" cy="647403"/>
            <a:chOff x="0" y="0"/>
            <a:chExt cx="863203" cy="86320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340233"/>
                  </a:moveTo>
                  <a:cubicBezTo>
                    <a:pt x="0" y="152273"/>
                    <a:pt x="152273" y="0"/>
                    <a:pt x="340233" y="0"/>
                  </a:cubicBezTo>
                  <a:lnTo>
                    <a:pt x="510286" y="0"/>
                  </a:lnTo>
                  <a:cubicBezTo>
                    <a:pt x="698246" y="0"/>
                    <a:pt x="850519" y="152273"/>
                    <a:pt x="850519" y="340233"/>
                  </a:cubicBezTo>
                  <a:lnTo>
                    <a:pt x="850519" y="510286"/>
                  </a:lnTo>
                  <a:cubicBezTo>
                    <a:pt x="850519" y="698246"/>
                    <a:pt x="698246" y="850519"/>
                    <a:pt x="510286" y="850519"/>
                  </a:cubicBezTo>
                  <a:lnTo>
                    <a:pt x="340233" y="850519"/>
                  </a:lnTo>
                  <a:cubicBezTo>
                    <a:pt x="152273" y="850519"/>
                    <a:pt x="0" y="698119"/>
                    <a:pt x="0" y="510286"/>
                  </a:cubicBezTo>
                  <a:close/>
                </a:path>
              </a:pathLst>
            </a:custGeom>
            <a:solidFill>
              <a:srgbClr val="CFDBFC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346583"/>
                  </a:moveTo>
                  <a:cubicBezTo>
                    <a:pt x="0" y="155194"/>
                    <a:pt x="155194" y="0"/>
                    <a:pt x="346583" y="0"/>
                  </a:cubicBezTo>
                  <a:lnTo>
                    <a:pt x="516636" y="0"/>
                  </a:lnTo>
                  <a:lnTo>
                    <a:pt x="516636" y="6350"/>
                  </a:lnTo>
                  <a:lnTo>
                    <a:pt x="516636" y="0"/>
                  </a:lnTo>
                  <a:lnTo>
                    <a:pt x="516636" y="6350"/>
                  </a:lnTo>
                  <a:lnTo>
                    <a:pt x="516636" y="0"/>
                  </a:lnTo>
                  <a:cubicBezTo>
                    <a:pt x="708025" y="0"/>
                    <a:pt x="863219" y="155194"/>
                    <a:pt x="863219" y="346583"/>
                  </a:cubicBezTo>
                  <a:lnTo>
                    <a:pt x="856869" y="346583"/>
                  </a:lnTo>
                  <a:lnTo>
                    <a:pt x="863219" y="346583"/>
                  </a:lnTo>
                  <a:lnTo>
                    <a:pt x="863219" y="516636"/>
                  </a:lnTo>
                  <a:lnTo>
                    <a:pt x="856869" y="516636"/>
                  </a:lnTo>
                  <a:lnTo>
                    <a:pt x="863219" y="516636"/>
                  </a:lnTo>
                  <a:cubicBezTo>
                    <a:pt x="863219" y="708025"/>
                    <a:pt x="708025" y="863219"/>
                    <a:pt x="516636" y="863219"/>
                  </a:cubicBezTo>
                  <a:lnTo>
                    <a:pt x="516636" y="856869"/>
                  </a:lnTo>
                  <a:lnTo>
                    <a:pt x="516636" y="863219"/>
                  </a:lnTo>
                  <a:lnTo>
                    <a:pt x="346583" y="863219"/>
                  </a:lnTo>
                  <a:lnTo>
                    <a:pt x="346583" y="856869"/>
                  </a:lnTo>
                  <a:lnTo>
                    <a:pt x="346583" y="863219"/>
                  </a:lnTo>
                  <a:cubicBezTo>
                    <a:pt x="155194" y="863219"/>
                    <a:pt x="0" y="708025"/>
                    <a:pt x="0" y="516636"/>
                  </a:cubicBezTo>
                  <a:lnTo>
                    <a:pt x="0" y="346583"/>
                  </a:lnTo>
                  <a:lnTo>
                    <a:pt x="6350" y="346583"/>
                  </a:lnTo>
                  <a:lnTo>
                    <a:pt x="0" y="346583"/>
                  </a:lnTo>
                  <a:moveTo>
                    <a:pt x="12700" y="346583"/>
                  </a:moveTo>
                  <a:lnTo>
                    <a:pt x="12700" y="516636"/>
                  </a:lnTo>
                  <a:lnTo>
                    <a:pt x="6350" y="516636"/>
                  </a:lnTo>
                  <a:lnTo>
                    <a:pt x="12700" y="516636"/>
                  </a:lnTo>
                  <a:cubicBezTo>
                    <a:pt x="12700" y="701040"/>
                    <a:pt x="162179" y="850519"/>
                    <a:pt x="346583" y="850519"/>
                  </a:cubicBezTo>
                  <a:lnTo>
                    <a:pt x="516636" y="850519"/>
                  </a:lnTo>
                  <a:cubicBezTo>
                    <a:pt x="701040" y="850519"/>
                    <a:pt x="850519" y="701040"/>
                    <a:pt x="850519" y="516636"/>
                  </a:cubicBezTo>
                  <a:lnTo>
                    <a:pt x="850519" y="346583"/>
                  </a:lnTo>
                  <a:cubicBezTo>
                    <a:pt x="850519" y="162179"/>
                    <a:pt x="701040" y="12700"/>
                    <a:pt x="516636" y="12700"/>
                  </a:cubicBezTo>
                  <a:lnTo>
                    <a:pt x="346583" y="12700"/>
                  </a:lnTo>
                  <a:lnTo>
                    <a:pt x="346583" y="6350"/>
                  </a:lnTo>
                  <a:lnTo>
                    <a:pt x="346583" y="12700"/>
                  </a:lnTo>
                  <a:cubicBezTo>
                    <a:pt x="162179" y="12700"/>
                    <a:pt x="12700" y="162179"/>
                    <a:pt x="12700" y="346583"/>
                  </a:cubicBezTo>
                  <a:close/>
                </a:path>
              </a:pathLst>
            </a:custGeom>
            <a:solidFill>
              <a:srgbClr val="B5C1E2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9427444" y="6244679"/>
            <a:ext cx="425203" cy="493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4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42500" y="6212681"/>
            <a:ext cx="3685580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User-Friendly Interface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42500" y="6778079"/>
            <a:ext cx="7053262" cy="144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Intuitive design with adaptable modes, ensuring accessibility and comfort for all users regardless of ability.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" y="342900"/>
            <a:ext cx="4277274" cy="9957942"/>
          </a:xfrm>
          <a:custGeom>
            <a:avLst/>
            <a:gdLst/>
            <a:ahLst/>
            <a:cxnLst/>
            <a:rect r="r" b="b" t="t" l="l"/>
            <a:pathLst>
              <a:path h="9957942" w="4277274">
                <a:moveTo>
                  <a:pt x="0" y="0"/>
                </a:moveTo>
                <a:lnTo>
                  <a:pt x="4277274" y="0"/>
                </a:lnTo>
                <a:lnTo>
                  <a:pt x="4277274" y="9957942"/>
                </a:lnTo>
                <a:lnTo>
                  <a:pt x="0" y="99579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0"/>
            <a:ext cx="274320" cy="10287000"/>
            <a:chOff x="0" y="0"/>
            <a:chExt cx="36576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576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66F5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10530" y="658266"/>
            <a:ext cx="6504086" cy="874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52"/>
              </a:lnSpc>
            </a:pPr>
            <a:r>
              <a:rPr lang="en-US" sz="5362" b="true">
                <a:solidFill>
                  <a:srgbClr val="3F6FF3"/>
                </a:solidFill>
                <a:latin typeface="Arimo Bold"/>
                <a:ea typeface="Arimo Bold"/>
                <a:cs typeface="Arimo Bold"/>
                <a:sym typeface="Arimo Bold"/>
              </a:rPr>
              <a:t>How It Works</a:t>
            </a:r>
          </a:p>
        </p:txBody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978396" y="2048619"/>
            <a:ext cx="16331207" cy="7042397"/>
            <a:chOff x="0" y="0"/>
            <a:chExt cx="21774943" cy="9389863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21774913" cy="9389872"/>
            </a:xfrm>
            <a:custGeom>
              <a:avLst/>
              <a:gdLst/>
              <a:ahLst/>
              <a:cxnLst/>
              <a:rect r="r" b="b" t="t" l="l"/>
              <a:pathLst>
                <a:path h="9389872" w="21774913">
                  <a:moveTo>
                    <a:pt x="0" y="0"/>
                  </a:moveTo>
                  <a:lnTo>
                    <a:pt x="21774913" y="0"/>
                  </a:lnTo>
                  <a:lnTo>
                    <a:pt x="21774913" y="9389872"/>
                  </a:lnTo>
                  <a:lnTo>
                    <a:pt x="0" y="9389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37" t="0" r="-37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077311" y="7726940"/>
            <a:ext cx="3705004" cy="57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4"/>
              </a:lnSpc>
            </a:pPr>
            <a:r>
              <a:rPr lang="en-US" sz="358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Output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77311" y="6096739"/>
            <a:ext cx="3705004" cy="57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4"/>
              </a:lnSpc>
            </a:pPr>
            <a:r>
              <a:rPr lang="en-US" sz="358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AI Tutor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77311" y="4483004"/>
            <a:ext cx="3705004" cy="57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4"/>
              </a:lnSpc>
            </a:pPr>
            <a:r>
              <a:rPr lang="en-US" sz="358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Processing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77311" y="2852803"/>
            <a:ext cx="3705004" cy="57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4"/>
              </a:lnSpc>
            </a:pPr>
            <a:r>
              <a:rPr lang="en-US" sz="358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User Input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0530" y="9307414"/>
            <a:ext cx="16466939" cy="78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Our architecture creates a seamless flow: users input information in their preferred mode, advanced AI processes it, the tutor responds intelligently, and output is delivered back in the chosen format - creating truly accessible communication.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" y="342900"/>
            <a:ext cx="4277274" cy="9957942"/>
          </a:xfrm>
          <a:custGeom>
            <a:avLst/>
            <a:gdLst/>
            <a:ahLst/>
            <a:cxnLst/>
            <a:rect r="r" b="b" t="t" l="l"/>
            <a:pathLst>
              <a:path h="9957942" w="4277274">
                <a:moveTo>
                  <a:pt x="0" y="0"/>
                </a:moveTo>
                <a:lnTo>
                  <a:pt x="4277274" y="0"/>
                </a:lnTo>
                <a:lnTo>
                  <a:pt x="4277274" y="9957942"/>
                </a:lnTo>
                <a:lnTo>
                  <a:pt x="0" y="99579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0831" y="-1179"/>
            <a:ext cx="3535011" cy="10281059"/>
          </a:xfrm>
          <a:custGeom>
            <a:avLst/>
            <a:gdLst/>
            <a:ahLst/>
            <a:cxnLst/>
            <a:rect r="r" b="b" t="t" l="l"/>
            <a:pathLst>
              <a:path h="10281059" w="3535011">
                <a:moveTo>
                  <a:pt x="0" y="0"/>
                </a:moveTo>
                <a:lnTo>
                  <a:pt x="3535012" y="0"/>
                </a:lnTo>
                <a:lnTo>
                  <a:pt x="3535012" y="10281059"/>
                </a:lnTo>
                <a:lnTo>
                  <a:pt x="0" y="102810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274320" cy="10287000"/>
            <a:chOff x="0" y="0"/>
            <a:chExt cx="365760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576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66F54"/>
            </a:solid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7850237" y="855315"/>
            <a:ext cx="7088237" cy="90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3F6FF3"/>
                </a:solidFill>
                <a:latin typeface="Arimo"/>
                <a:ea typeface="Arimo"/>
                <a:cs typeface="Arimo"/>
                <a:sym typeface="Arimo"/>
              </a:rPr>
              <a:t>Technology Stack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50237" y="2469059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3F6FF3"/>
                </a:solidFill>
                <a:latin typeface="Arimo"/>
                <a:ea typeface="Arimo"/>
                <a:cs typeface="Arimo"/>
                <a:sym typeface="Arimo"/>
              </a:rPr>
              <a:t>Frontend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50237" y="3147864"/>
            <a:ext cx="437688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React.js for dynamic interfaces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50237" y="3700611"/>
            <a:ext cx="437688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HTML5 for structure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50237" y="4253359"/>
            <a:ext cx="4376886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TailwindCSS for responsive design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850237" y="5491758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3F6FF3"/>
                </a:solidFill>
                <a:latin typeface="Arimo"/>
                <a:ea typeface="Arimo"/>
                <a:cs typeface="Arimo"/>
                <a:sym typeface="Arimo"/>
              </a:rPr>
              <a:t>Backend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850237" y="6170562"/>
            <a:ext cx="437688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Flask for server logic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850237" y="6723310"/>
            <a:ext cx="4376886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MongoDB for secure data storage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928401" y="2469059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3F6FF3"/>
                </a:solidFill>
                <a:latin typeface="Arimo"/>
                <a:ea typeface="Arimo"/>
                <a:cs typeface="Arimo"/>
                <a:sym typeface="Arimo"/>
              </a:rPr>
              <a:t>AI &amp; Processing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928401" y="3147864"/>
            <a:ext cx="4376886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Whisper for speech recognition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928401" y="4154240"/>
            <a:ext cx="4376886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MediaPipe for sign language detection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928401" y="5160615"/>
            <a:ext cx="437688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OpenCV for computer vision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928401" y="5713362"/>
            <a:ext cx="437688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Transformers for NLP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928401" y="6498134"/>
            <a:ext cx="3841105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3F6FF3"/>
                </a:solidFill>
                <a:latin typeface="Arimo"/>
                <a:ea typeface="Arimo"/>
                <a:cs typeface="Arimo"/>
                <a:sym typeface="Arimo"/>
              </a:rPr>
              <a:t>Hardware Requirements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928401" y="7176939"/>
            <a:ext cx="4376886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Laptop/PC with microphone &amp; camera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928401" y="8183315"/>
            <a:ext cx="437688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8GB RAM minimum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928401" y="8736063"/>
            <a:ext cx="4376886" cy="53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Intel i5 processor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" y="342900"/>
            <a:ext cx="4277274" cy="9957942"/>
          </a:xfrm>
          <a:custGeom>
            <a:avLst/>
            <a:gdLst/>
            <a:ahLst/>
            <a:cxnLst/>
            <a:rect r="r" b="b" t="t" l="l"/>
            <a:pathLst>
              <a:path h="9957942" w="4277274">
                <a:moveTo>
                  <a:pt x="0" y="0"/>
                </a:moveTo>
                <a:lnTo>
                  <a:pt x="4277274" y="0"/>
                </a:lnTo>
                <a:lnTo>
                  <a:pt x="4277274" y="9957942"/>
                </a:lnTo>
                <a:lnTo>
                  <a:pt x="0" y="99579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0"/>
            <a:ext cx="274320" cy="10287000"/>
            <a:chOff x="0" y="0"/>
            <a:chExt cx="36576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576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66F5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98326" y="764976"/>
            <a:ext cx="6416874" cy="859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12"/>
              </a:lnSpc>
            </a:pPr>
            <a:r>
              <a:rPr lang="en-US" sz="4999">
                <a:solidFill>
                  <a:srgbClr val="3F6FF3"/>
                </a:solidFill>
                <a:latin typeface="Arimo"/>
                <a:ea typeface="Arimo"/>
                <a:cs typeface="Arimo"/>
                <a:sym typeface="Arimo"/>
              </a:rPr>
              <a:t>Our Key Contributions</a:t>
            </a:r>
          </a:p>
        </p:txBody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898326" y="2137619"/>
            <a:ext cx="5283250" cy="5283250"/>
            <a:chOff x="0" y="0"/>
            <a:chExt cx="7044333" cy="7044333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7044309" cy="7044309"/>
            </a:xfrm>
            <a:custGeom>
              <a:avLst/>
              <a:gdLst/>
              <a:ahLst/>
              <a:cxnLst/>
              <a:rect r="r" b="b" t="t" l="l"/>
              <a:pathLst>
                <a:path h="7044309" w="7044309">
                  <a:moveTo>
                    <a:pt x="0" y="0"/>
                  </a:moveTo>
                  <a:lnTo>
                    <a:pt x="7044309" y="0"/>
                  </a:lnTo>
                  <a:lnTo>
                    <a:pt x="7044309" y="7044309"/>
                  </a:lnTo>
                  <a:lnTo>
                    <a:pt x="0" y="704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898326" y="7648872"/>
            <a:ext cx="3208436" cy="429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Digital Inclusion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8326" y="8165752"/>
            <a:ext cx="5283250" cy="1298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Breaks down communication barriers, ensuring disabled users can participate fully in education and digital spaces.</a:t>
            </a:r>
          </a:p>
        </p:txBody>
      </p: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6502301" y="2137619"/>
            <a:ext cx="5283250" cy="5283250"/>
            <a:chOff x="0" y="0"/>
            <a:chExt cx="7044333" cy="7044333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7044309" cy="7044309"/>
            </a:xfrm>
            <a:custGeom>
              <a:avLst/>
              <a:gdLst/>
              <a:ahLst/>
              <a:cxnLst/>
              <a:rect r="r" b="b" t="t" l="l"/>
              <a:pathLst>
                <a:path h="7044309" w="7044309">
                  <a:moveTo>
                    <a:pt x="0" y="0"/>
                  </a:moveTo>
                  <a:lnTo>
                    <a:pt x="7044309" y="0"/>
                  </a:lnTo>
                  <a:lnTo>
                    <a:pt x="7044309" y="7044309"/>
                  </a:lnTo>
                  <a:lnTo>
                    <a:pt x="0" y="704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502301" y="7648872"/>
            <a:ext cx="3218557" cy="429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Integrated AI Learning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02301" y="8165752"/>
            <a:ext cx="5283250" cy="1298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Combines intelligent tutoring with community chat for comprehensive, accessible education tailored to individual needs.</a:t>
            </a:r>
          </a:p>
        </p:txBody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2106275" y="2137619"/>
            <a:ext cx="5283250" cy="5283250"/>
            <a:chOff x="0" y="0"/>
            <a:chExt cx="7044333" cy="7044333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7044309" cy="7044309"/>
            </a:xfrm>
            <a:custGeom>
              <a:avLst/>
              <a:gdLst/>
              <a:ahLst/>
              <a:cxnLst/>
              <a:rect r="r" b="b" t="t" l="l"/>
              <a:pathLst>
                <a:path h="7044309" w="7044309">
                  <a:moveTo>
                    <a:pt x="0" y="0"/>
                  </a:moveTo>
                  <a:lnTo>
                    <a:pt x="7044309" y="0"/>
                  </a:lnTo>
                  <a:lnTo>
                    <a:pt x="7044309" y="7044309"/>
                  </a:lnTo>
                  <a:lnTo>
                    <a:pt x="0" y="704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106275" y="7648872"/>
            <a:ext cx="5064026" cy="429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Empowerment Through Technology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06275" y="8165752"/>
            <a:ext cx="5283250" cy="1298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Enhances independence and confidence among differently-abled learners, fostering long-term social and educational growth.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" y="342900"/>
            <a:ext cx="4277274" cy="9957942"/>
          </a:xfrm>
          <a:custGeom>
            <a:avLst/>
            <a:gdLst/>
            <a:ahLst/>
            <a:cxnLst/>
            <a:rect r="r" b="b" t="t" l="l"/>
            <a:pathLst>
              <a:path h="9957942" w="4277274">
                <a:moveTo>
                  <a:pt x="0" y="0"/>
                </a:moveTo>
                <a:lnTo>
                  <a:pt x="4277274" y="0"/>
                </a:lnTo>
                <a:lnTo>
                  <a:pt x="4277274" y="9957942"/>
                </a:lnTo>
                <a:lnTo>
                  <a:pt x="0" y="99579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0"/>
            <a:ext cx="274320" cy="10287000"/>
            <a:chOff x="0" y="0"/>
            <a:chExt cx="36576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576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66F5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971550"/>
            <a:ext cx="8151762" cy="973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1"/>
              </a:lnSpc>
            </a:pPr>
            <a:r>
              <a:rPr lang="en-US" sz="6062" b="true">
                <a:solidFill>
                  <a:srgbClr val="3F6FF3"/>
                </a:solidFill>
                <a:latin typeface="Arimo Bold"/>
                <a:ea typeface="Arimo Bold"/>
                <a:cs typeface="Arimo Bold"/>
                <a:sym typeface="Arimo Bold"/>
              </a:rPr>
              <a:t>Impact &amp; Applications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82788" y="3418116"/>
            <a:ext cx="3788975" cy="597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985"/>
              </a:lnSpc>
            </a:pPr>
            <a:r>
              <a:rPr lang="en-US" b="true" sz="2949" u="sng">
                <a:solidFill>
                  <a:srgbClr val="8C52FF"/>
                </a:solidFill>
                <a:latin typeface="Arimo Bold"/>
                <a:ea typeface="Arimo Bold"/>
                <a:cs typeface="Arimo Bold"/>
                <a:sym typeface="Arimo Bold"/>
              </a:rPr>
              <a:t>Assistive Education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4104234"/>
            <a:ext cx="5298579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62"/>
              </a:lnSpc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Accessible learning for students with various disabilities.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6290816" y="3016895"/>
            <a:ext cx="5706219" cy="5706219"/>
            <a:chOff x="0" y="0"/>
            <a:chExt cx="7608292" cy="7608292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7608316" cy="7608316"/>
            </a:xfrm>
            <a:custGeom>
              <a:avLst/>
              <a:gdLst/>
              <a:ahLst/>
              <a:cxnLst/>
              <a:rect r="r" b="b" t="t" l="l"/>
              <a:pathLst>
                <a:path h="7608316" w="7608316">
                  <a:moveTo>
                    <a:pt x="0" y="0"/>
                  </a:moveTo>
                  <a:lnTo>
                    <a:pt x="7608316" y="0"/>
                  </a:lnTo>
                  <a:lnTo>
                    <a:pt x="7608316" y="7608316"/>
                  </a:lnTo>
                  <a:lnTo>
                    <a:pt x="0" y="76083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Freeform 11" id="11" descr="preencoded.png"/>
          <p:cNvSpPr/>
          <p:nvPr/>
        </p:nvSpPr>
        <p:spPr>
          <a:xfrm flipH="false" flipV="false" rot="0">
            <a:off x="7755731" y="4806851"/>
            <a:ext cx="398710" cy="398710"/>
          </a:xfrm>
          <a:custGeom>
            <a:avLst/>
            <a:gdLst/>
            <a:ahLst/>
            <a:cxnLst/>
            <a:rect r="r" b="b" t="t" l="l"/>
            <a:pathLst>
              <a:path h="398710" w="398710">
                <a:moveTo>
                  <a:pt x="0" y="0"/>
                </a:moveTo>
                <a:lnTo>
                  <a:pt x="398710" y="0"/>
                </a:lnTo>
                <a:lnTo>
                  <a:pt x="398710" y="398710"/>
                </a:lnTo>
                <a:lnTo>
                  <a:pt x="0" y="3987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7857" t="0" r="-17857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997035" y="3027909"/>
            <a:ext cx="3544044" cy="449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b="true" sz="2750" u="sng">
                <a:solidFill>
                  <a:srgbClr val="8C52FF"/>
                </a:solidFill>
                <a:latin typeface="Arimo Bold"/>
                <a:ea typeface="Arimo Bold"/>
                <a:cs typeface="Arimo Bold"/>
                <a:sym typeface="Arimo Bold"/>
              </a:rPr>
              <a:t>Community Building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997035" y="3593306"/>
            <a:ext cx="5298727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Foster connections and collaboration among users.</a:t>
            </a:r>
          </a:p>
        </p:txBody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6290816" y="3016895"/>
            <a:ext cx="5706219" cy="5706219"/>
            <a:chOff x="0" y="0"/>
            <a:chExt cx="7608292" cy="7608292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7608316" cy="7608316"/>
            </a:xfrm>
            <a:custGeom>
              <a:avLst/>
              <a:gdLst/>
              <a:ahLst/>
              <a:cxnLst/>
              <a:rect r="r" b="b" t="t" l="l"/>
              <a:pathLst>
                <a:path h="7608316" w="7608316">
                  <a:moveTo>
                    <a:pt x="0" y="0"/>
                  </a:moveTo>
                  <a:lnTo>
                    <a:pt x="7608316" y="0"/>
                  </a:lnTo>
                  <a:lnTo>
                    <a:pt x="7608316" y="7608316"/>
                  </a:lnTo>
                  <a:lnTo>
                    <a:pt x="0" y="76083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Freeform 16" id="16" descr="preencoded.png"/>
          <p:cNvSpPr/>
          <p:nvPr/>
        </p:nvSpPr>
        <p:spPr>
          <a:xfrm flipH="false" flipV="false" rot="0">
            <a:off x="9398496" y="4273004"/>
            <a:ext cx="398710" cy="398710"/>
          </a:xfrm>
          <a:custGeom>
            <a:avLst/>
            <a:gdLst/>
            <a:ahLst/>
            <a:cxnLst/>
            <a:rect r="r" b="b" t="t" l="l"/>
            <a:pathLst>
              <a:path h="398710" w="398710">
                <a:moveTo>
                  <a:pt x="0" y="0"/>
                </a:moveTo>
                <a:lnTo>
                  <a:pt x="398710" y="0"/>
                </a:lnTo>
                <a:lnTo>
                  <a:pt x="398710" y="398710"/>
                </a:lnTo>
                <a:lnTo>
                  <a:pt x="0" y="3987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2564070" y="5071616"/>
            <a:ext cx="4096918" cy="449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b="true" sz="2750" u="sng">
                <a:solidFill>
                  <a:srgbClr val="8C52FF"/>
                </a:solidFill>
                <a:latin typeface="Arimo Bold"/>
                <a:ea typeface="Arimo Bold"/>
                <a:cs typeface="Arimo Bold"/>
                <a:sym typeface="Arimo Bold"/>
              </a:rPr>
              <a:t>Accessibility Standards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64070" y="5637014"/>
            <a:ext cx="4731692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Sets new benchmarks for inclusive technology design.</a:t>
            </a:r>
          </a:p>
        </p:txBody>
      </p: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6290816" y="3016895"/>
            <a:ext cx="5706219" cy="5706219"/>
            <a:chOff x="0" y="0"/>
            <a:chExt cx="7608292" cy="7608292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7608316" cy="7608316"/>
            </a:xfrm>
            <a:custGeom>
              <a:avLst/>
              <a:gdLst/>
              <a:ahLst/>
              <a:cxnLst/>
              <a:rect r="r" b="b" t="t" l="l"/>
              <a:pathLst>
                <a:path h="7608316" w="7608316">
                  <a:moveTo>
                    <a:pt x="0" y="0"/>
                  </a:moveTo>
                  <a:lnTo>
                    <a:pt x="7608316" y="0"/>
                  </a:lnTo>
                  <a:lnTo>
                    <a:pt x="7608316" y="7608316"/>
                  </a:lnTo>
                  <a:lnTo>
                    <a:pt x="0" y="76083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Freeform 21" id="21" descr="preencoded.png"/>
          <p:cNvSpPr/>
          <p:nvPr/>
        </p:nvSpPr>
        <p:spPr>
          <a:xfrm flipH="false" flipV="false" rot="0">
            <a:off x="10413801" y="5670500"/>
            <a:ext cx="398710" cy="398710"/>
          </a:xfrm>
          <a:custGeom>
            <a:avLst/>
            <a:gdLst/>
            <a:ahLst/>
            <a:cxnLst/>
            <a:rect r="r" b="b" t="t" l="l"/>
            <a:pathLst>
              <a:path h="398710" w="398710">
                <a:moveTo>
                  <a:pt x="0" y="0"/>
                </a:moveTo>
                <a:lnTo>
                  <a:pt x="398710" y="0"/>
                </a:lnTo>
                <a:lnTo>
                  <a:pt x="398710" y="398710"/>
                </a:lnTo>
                <a:lnTo>
                  <a:pt x="0" y="39871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1997035" y="7115472"/>
            <a:ext cx="3544044" cy="449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b="true" sz="2750" u="sng">
                <a:solidFill>
                  <a:srgbClr val="8C52FF"/>
                </a:solidFill>
                <a:latin typeface="Arimo Bold"/>
                <a:ea typeface="Arimo Bold"/>
                <a:cs typeface="Arimo Bold"/>
                <a:sym typeface="Arimo Bold"/>
              </a:rPr>
              <a:t>Innovation Model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997035" y="7680871"/>
            <a:ext cx="5298727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Demonstrates AI's potential for human-centered solutions.</a:t>
            </a:r>
          </a:p>
        </p:txBody>
      </p: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6290816" y="3016895"/>
            <a:ext cx="5706219" cy="5706219"/>
            <a:chOff x="0" y="0"/>
            <a:chExt cx="7608292" cy="7608292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7608316" cy="7608316"/>
            </a:xfrm>
            <a:custGeom>
              <a:avLst/>
              <a:gdLst/>
              <a:ahLst/>
              <a:cxnLst/>
              <a:rect r="r" b="b" t="t" l="l"/>
              <a:pathLst>
                <a:path h="7608316" w="7608316">
                  <a:moveTo>
                    <a:pt x="0" y="0"/>
                  </a:moveTo>
                  <a:lnTo>
                    <a:pt x="7608316" y="0"/>
                  </a:lnTo>
                  <a:lnTo>
                    <a:pt x="7608316" y="7608316"/>
                  </a:lnTo>
                  <a:lnTo>
                    <a:pt x="0" y="76083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sp>
        <p:nvSpPr>
          <p:cNvPr name="Freeform 26" id="26" descr="preencoded.png"/>
          <p:cNvSpPr/>
          <p:nvPr/>
        </p:nvSpPr>
        <p:spPr>
          <a:xfrm flipH="false" flipV="false" rot="0">
            <a:off x="9398496" y="7067996"/>
            <a:ext cx="398710" cy="398710"/>
          </a:xfrm>
          <a:custGeom>
            <a:avLst/>
            <a:gdLst/>
            <a:ahLst/>
            <a:cxnLst/>
            <a:rect r="r" b="b" t="t" l="l"/>
            <a:pathLst>
              <a:path h="398710" w="398710">
                <a:moveTo>
                  <a:pt x="0" y="0"/>
                </a:moveTo>
                <a:lnTo>
                  <a:pt x="398710" y="0"/>
                </a:lnTo>
                <a:lnTo>
                  <a:pt x="398710" y="398710"/>
                </a:lnTo>
                <a:lnTo>
                  <a:pt x="0" y="39871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-19047" r="0" b="-19047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2746772" y="6614071"/>
            <a:ext cx="3544044" cy="476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87"/>
              </a:lnSpc>
            </a:pPr>
            <a:r>
              <a:rPr lang="en-US" b="true" sz="2949" u="sng">
                <a:solidFill>
                  <a:srgbClr val="8C52FF"/>
                </a:solidFill>
                <a:latin typeface="Arimo Bold"/>
                <a:ea typeface="Arimo Bold"/>
                <a:cs typeface="Arimo Bold"/>
                <a:sym typeface="Arimo Bold"/>
              </a:rPr>
              <a:t>Social Impact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92238" y="7169944"/>
            <a:ext cx="5298579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62"/>
              </a:lnSpc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Empowers millions facing communication barriers globally.</a:t>
            </a:r>
          </a:p>
        </p:txBody>
      </p:sp>
      <p:grpSp>
        <p:nvGrpSpPr>
          <p:cNvPr name="Group 29" id="29"/>
          <p:cNvGrpSpPr>
            <a:grpSpLocks noChangeAspect="true"/>
          </p:cNvGrpSpPr>
          <p:nvPr/>
        </p:nvGrpSpPr>
        <p:grpSpPr>
          <a:xfrm rot="0">
            <a:off x="6290816" y="3016895"/>
            <a:ext cx="5706219" cy="5706219"/>
            <a:chOff x="0" y="0"/>
            <a:chExt cx="7608292" cy="7608292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7608316" cy="7608316"/>
            </a:xfrm>
            <a:custGeom>
              <a:avLst/>
              <a:gdLst/>
              <a:ahLst/>
              <a:cxnLst/>
              <a:rect r="r" b="b" t="t" l="l"/>
              <a:pathLst>
                <a:path h="7608316" w="7608316">
                  <a:moveTo>
                    <a:pt x="0" y="0"/>
                  </a:moveTo>
                  <a:lnTo>
                    <a:pt x="7608316" y="0"/>
                  </a:lnTo>
                  <a:lnTo>
                    <a:pt x="7608316" y="7608316"/>
                  </a:lnTo>
                  <a:lnTo>
                    <a:pt x="0" y="76083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sp>
        <p:nvSpPr>
          <p:cNvPr name="Freeform 31" id="31" descr="preencoded.png"/>
          <p:cNvSpPr/>
          <p:nvPr/>
        </p:nvSpPr>
        <p:spPr>
          <a:xfrm flipH="false" flipV="false" rot="0">
            <a:off x="7755731" y="6534150"/>
            <a:ext cx="398710" cy="398710"/>
          </a:xfrm>
          <a:custGeom>
            <a:avLst/>
            <a:gdLst/>
            <a:ahLst/>
            <a:cxnLst/>
            <a:rect r="r" b="b" t="t" l="l"/>
            <a:pathLst>
              <a:path h="398710" w="398710">
                <a:moveTo>
                  <a:pt x="0" y="0"/>
                </a:moveTo>
                <a:lnTo>
                  <a:pt x="398710" y="0"/>
                </a:lnTo>
                <a:lnTo>
                  <a:pt x="398710" y="398710"/>
                </a:lnTo>
                <a:lnTo>
                  <a:pt x="0" y="39871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-7142" t="0" r="-7142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" y="342900"/>
            <a:ext cx="4277274" cy="9957942"/>
          </a:xfrm>
          <a:custGeom>
            <a:avLst/>
            <a:gdLst/>
            <a:ahLst/>
            <a:cxnLst/>
            <a:rect r="r" b="b" t="t" l="l"/>
            <a:pathLst>
              <a:path h="9957942" w="4277274">
                <a:moveTo>
                  <a:pt x="0" y="0"/>
                </a:moveTo>
                <a:lnTo>
                  <a:pt x="4277274" y="0"/>
                </a:lnTo>
                <a:lnTo>
                  <a:pt x="4277274" y="9957942"/>
                </a:lnTo>
                <a:lnTo>
                  <a:pt x="0" y="99579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0831" y="-1179"/>
            <a:ext cx="3535011" cy="10281059"/>
          </a:xfrm>
          <a:custGeom>
            <a:avLst/>
            <a:gdLst/>
            <a:ahLst/>
            <a:cxnLst/>
            <a:rect r="r" b="b" t="t" l="l"/>
            <a:pathLst>
              <a:path h="10281059" w="3535011">
                <a:moveTo>
                  <a:pt x="0" y="0"/>
                </a:moveTo>
                <a:lnTo>
                  <a:pt x="3535012" y="0"/>
                </a:lnTo>
                <a:lnTo>
                  <a:pt x="3535012" y="10281059"/>
                </a:lnTo>
                <a:lnTo>
                  <a:pt x="0" y="102810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274320" cy="10287000"/>
            <a:chOff x="0" y="0"/>
            <a:chExt cx="365760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576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66F54"/>
            </a:solid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7850237" y="1334541"/>
            <a:ext cx="8771930" cy="94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3F6FF3"/>
                </a:solidFill>
                <a:latin typeface="Arimo"/>
                <a:ea typeface="Arimo"/>
                <a:cs typeface="Arimo"/>
                <a:sym typeface="Arimo"/>
              </a:rPr>
              <a:t>Bringing Accessibility to Life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50237" y="2617142"/>
            <a:ext cx="9445526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This platform demonstrates AI's transformative power in creating inclusive, human-centered technologies. By integrating speech, sign language, and text, we break communication barriers and unlock equal opportunities for differently-abled learners.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845475" y="4831556"/>
            <a:ext cx="9455051" cy="4068366"/>
            <a:chOff x="0" y="0"/>
            <a:chExt cx="12606735" cy="54244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350" y="6350"/>
              <a:ext cx="12594082" cy="5411851"/>
            </a:xfrm>
            <a:custGeom>
              <a:avLst/>
              <a:gdLst/>
              <a:ahLst/>
              <a:cxnLst/>
              <a:rect r="r" b="b" t="t" l="l"/>
              <a:pathLst>
                <a:path h="5411851" w="12594082">
                  <a:moveTo>
                    <a:pt x="0" y="340233"/>
                  </a:moveTo>
                  <a:cubicBezTo>
                    <a:pt x="0" y="152273"/>
                    <a:pt x="152527" y="0"/>
                    <a:pt x="340741" y="0"/>
                  </a:cubicBezTo>
                  <a:lnTo>
                    <a:pt x="12253341" y="0"/>
                  </a:lnTo>
                  <a:cubicBezTo>
                    <a:pt x="12441555" y="0"/>
                    <a:pt x="12594082" y="152273"/>
                    <a:pt x="12594082" y="340233"/>
                  </a:cubicBezTo>
                  <a:lnTo>
                    <a:pt x="12594082" y="5071491"/>
                  </a:lnTo>
                  <a:cubicBezTo>
                    <a:pt x="12594082" y="5259451"/>
                    <a:pt x="12441555" y="5411724"/>
                    <a:pt x="12253341" y="5411724"/>
                  </a:cubicBezTo>
                  <a:lnTo>
                    <a:pt x="340741" y="5411724"/>
                  </a:lnTo>
                  <a:cubicBezTo>
                    <a:pt x="152527" y="5411851"/>
                    <a:pt x="0" y="5259451"/>
                    <a:pt x="0" y="5071491"/>
                  </a:cubicBezTo>
                  <a:close/>
                </a:path>
              </a:pathLst>
            </a:custGeom>
            <a:solidFill>
              <a:srgbClr val="CFDBFC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606782" cy="5424551"/>
            </a:xfrm>
            <a:custGeom>
              <a:avLst/>
              <a:gdLst/>
              <a:ahLst/>
              <a:cxnLst/>
              <a:rect r="r" b="b" t="t" l="l"/>
              <a:pathLst>
                <a:path h="5424551" w="12606782">
                  <a:moveTo>
                    <a:pt x="0" y="346583"/>
                  </a:moveTo>
                  <a:cubicBezTo>
                    <a:pt x="0" y="155194"/>
                    <a:pt x="155448" y="0"/>
                    <a:pt x="347091" y="0"/>
                  </a:cubicBezTo>
                  <a:lnTo>
                    <a:pt x="12259691" y="0"/>
                  </a:lnTo>
                  <a:lnTo>
                    <a:pt x="12259691" y="6350"/>
                  </a:lnTo>
                  <a:lnTo>
                    <a:pt x="12259691" y="0"/>
                  </a:lnTo>
                  <a:cubicBezTo>
                    <a:pt x="12451334" y="0"/>
                    <a:pt x="12606782" y="155194"/>
                    <a:pt x="12606782" y="346583"/>
                  </a:cubicBezTo>
                  <a:lnTo>
                    <a:pt x="12600432" y="346583"/>
                  </a:lnTo>
                  <a:lnTo>
                    <a:pt x="12606782" y="346583"/>
                  </a:lnTo>
                  <a:lnTo>
                    <a:pt x="12606782" y="5077841"/>
                  </a:lnTo>
                  <a:lnTo>
                    <a:pt x="12600432" y="5077841"/>
                  </a:lnTo>
                  <a:lnTo>
                    <a:pt x="12606782" y="5077841"/>
                  </a:lnTo>
                  <a:cubicBezTo>
                    <a:pt x="12606782" y="5269230"/>
                    <a:pt x="12451334" y="5424424"/>
                    <a:pt x="12259691" y="5424424"/>
                  </a:cubicBezTo>
                  <a:lnTo>
                    <a:pt x="12259691" y="5418074"/>
                  </a:lnTo>
                  <a:lnTo>
                    <a:pt x="12259691" y="5424424"/>
                  </a:lnTo>
                  <a:lnTo>
                    <a:pt x="347091" y="5424424"/>
                  </a:lnTo>
                  <a:lnTo>
                    <a:pt x="347091" y="5418074"/>
                  </a:lnTo>
                  <a:lnTo>
                    <a:pt x="347091" y="5424424"/>
                  </a:lnTo>
                  <a:cubicBezTo>
                    <a:pt x="155448" y="5424551"/>
                    <a:pt x="0" y="5269357"/>
                    <a:pt x="0" y="5077841"/>
                  </a:cubicBezTo>
                  <a:lnTo>
                    <a:pt x="0" y="346583"/>
                  </a:lnTo>
                  <a:lnTo>
                    <a:pt x="6350" y="346583"/>
                  </a:lnTo>
                  <a:lnTo>
                    <a:pt x="0" y="346583"/>
                  </a:lnTo>
                  <a:moveTo>
                    <a:pt x="12700" y="346583"/>
                  </a:moveTo>
                  <a:lnTo>
                    <a:pt x="12700" y="5077841"/>
                  </a:lnTo>
                  <a:lnTo>
                    <a:pt x="6350" y="5077841"/>
                  </a:lnTo>
                  <a:lnTo>
                    <a:pt x="12700" y="5077841"/>
                  </a:lnTo>
                  <a:cubicBezTo>
                    <a:pt x="12700" y="5262245"/>
                    <a:pt x="162433" y="5411724"/>
                    <a:pt x="347091" y="5411724"/>
                  </a:cubicBezTo>
                  <a:lnTo>
                    <a:pt x="12259691" y="5411724"/>
                  </a:lnTo>
                  <a:cubicBezTo>
                    <a:pt x="12444349" y="5411724"/>
                    <a:pt x="12594082" y="5262245"/>
                    <a:pt x="12594082" y="5077841"/>
                  </a:cubicBezTo>
                  <a:lnTo>
                    <a:pt x="12594082" y="346583"/>
                  </a:lnTo>
                  <a:cubicBezTo>
                    <a:pt x="12594082" y="162179"/>
                    <a:pt x="12444349" y="12700"/>
                    <a:pt x="12259691" y="12700"/>
                  </a:cubicBezTo>
                  <a:lnTo>
                    <a:pt x="347091" y="12700"/>
                  </a:lnTo>
                  <a:lnTo>
                    <a:pt x="347091" y="6350"/>
                  </a:lnTo>
                  <a:lnTo>
                    <a:pt x="347091" y="12700"/>
                  </a:lnTo>
                  <a:cubicBezTo>
                    <a:pt x="162433" y="12700"/>
                    <a:pt x="12700" y="162179"/>
                    <a:pt x="12700" y="346583"/>
                  </a:cubicBezTo>
                  <a:close/>
                </a:path>
              </a:pathLst>
            </a:custGeom>
            <a:solidFill>
              <a:srgbClr val="B5C1E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859762" y="4845844"/>
            <a:ext cx="9426476" cy="1009948"/>
            <a:chOff x="0" y="0"/>
            <a:chExt cx="12568635" cy="134659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568682" cy="1346581"/>
            </a:xfrm>
            <a:custGeom>
              <a:avLst/>
              <a:gdLst/>
              <a:ahLst/>
              <a:cxnLst/>
              <a:rect r="r" b="b" t="t" l="l"/>
              <a:pathLst>
                <a:path h="1346581" w="12568682">
                  <a:moveTo>
                    <a:pt x="0" y="340233"/>
                  </a:moveTo>
                  <a:cubicBezTo>
                    <a:pt x="0" y="152273"/>
                    <a:pt x="152273" y="0"/>
                    <a:pt x="340233" y="0"/>
                  </a:cubicBezTo>
                  <a:lnTo>
                    <a:pt x="12228449" y="0"/>
                  </a:lnTo>
                  <a:cubicBezTo>
                    <a:pt x="12416409" y="0"/>
                    <a:pt x="12568682" y="152273"/>
                    <a:pt x="12568682" y="340233"/>
                  </a:cubicBezTo>
                  <a:lnTo>
                    <a:pt x="12568682" y="1006348"/>
                  </a:lnTo>
                  <a:cubicBezTo>
                    <a:pt x="12568682" y="1194308"/>
                    <a:pt x="12416409" y="1346581"/>
                    <a:pt x="12228449" y="1346581"/>
                  </a:cubicBezTo>
                  <a:lnTo>
                    <a:pt x="340233" y="1346581"/>
                  </a:lnTo>
                  <a:cubicBezTo>
                    <a:pt x="152273" y="1346581"/>
                    <a:pt x="0" y="1194308"/>
                    <a:pt x="0" y="1006348"/>
                  </a:cubicBezTo>
                  <a:close/>
                </a:path>
              </a:pathLst>
            </a:custGeom>
            <a:solidFill>
              <a:srgbClr val="CFDBFC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8143280" y="5091261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Removes Barriers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859762" y="5855791"/>
            <a:ext cx="9426476" cy="1009947"/>
            <a:chOff x="0" y="0"/>
            <a:chExt cx="12568635" cy="134659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568682" cy="1346581"/>
            </a:xfrm>
            <a:custGeom>
              <a:avLst/>
              <a:gdLst/>
              <a:ahLst/>
              <a:cxnLst/>
              <a:rect r="r" b="b" t="t" l="l"/>
              <a:pathLst>
                <a:path h="1346581" w="12568682">
                  <a:moveTo>
                    <a:pt x="0" y="0"/>
                  </a:moveTo>
                  <a:lnTo>
                    <a:pt x="12568682" y="0"/>
                  </a:lnTo>
                  <a:lnTo>
                    <a:pt x="12568682" y="1346581"/>
                  </a:lnTo>
                  <a:lnTo>
                    <a:pt x="0" y="1346581"/>
                  </a:lnTo>
                  <a:close/>
                </a:path>
              </a:pathLst>
            </a:custGeom>
            <a:solidFill>
              <a:srgbClr val="CFDBFC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7859762" y="5855791"/>
            <a:ext cx="9426476" cy="38100"/>
            <a:chOff x="0" y="0"/>
            <a:chExt cx="12568635" cy="50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568682" cy="50800"/>
            </a:xfrm>
            <a:custGeom>
              <a:avLst/>
              <a:gdLst/>
              <a:ahLst/>
              <a:cxnLst/>
              <a:rect r="r" b="b" t="t" l="l"/>
              <a:pathLst>
                <a:path h="50800" w="12568682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2543282" y="0"/>
                  </a:lnTo>
                  <a:cubicBezTo>
                    <a:pt x="12557251" y="0"/>
                    <a:pt x="12568682" y="11430"/>
                    <a:pt x="12568682" y="25400"/>
                  </a:cubicBezTo>
                  <a:cubicBezTo>
                    <a:pt x="12568682" y="39370"/>
                    <a:pt x="12557251" y="50800"/>
                    <a:pt x="12543282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B5C1E2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8143280" y="6101209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Enables Learning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859762" y="6865739"/>
            <a:ext cx="9426476" cy="1009947"/>
            <a:chOff x="0" y="0"/>
            <a:chExt cx="12568635" cy="134659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568682" cy="1346581"/>
            </a:xfrm>
            <a:custGeom>
              <a:avLst/>
              <a:gdLst/>
              <a:ahLst/>
              <a:cxnLst/>
              <a:rect r="r" b="b" t="t" l="l"/>
              <a:pathLst>
                <a:path h="1346581" w="12568682">
                  <a:moveTo>
                    <a:pt x="0" y="0"/>
                  </a:moveTo>
                  <a:lnTo>
                    <a:pt x="12568682" y="0"/>
                  </a:lnTo>
                  <a:lnTo>
                    <a:pt x="12568682" y="1346581"/>
                  </a:lnTo>
                  <a:lnTo>
                    <a:pt x="0" y="1346581"/>
                  </a:lnTo>
                  <a:close/>
                </a:path>
              </a:pathLst>
            </a:custGeom>
            <a:solidFill>
              <a:srgbClr val="CFDBFC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859762" y="6865739"/>
            <a:ext cx="9426476" cy="38100"/>
            <a:chOff x="0" y="0"/>
            <a:chExt cx="12568635" cy="50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568682" cy="50800"/>
            </a:xfrm>
            <a:custGeom>
              <a:avLst/>
              <a:gdLst/>
              <a:ahLst/>
              <a:cxnLst/>
              <a:rect r="r" b="b" t="t" l="l"/>
              <a:pathLst>
                <a:path h="50800" w="12568682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2543282" y="0"/>
                  </a:lnTo>
                  <a:cubicBezTo>
                    <a:pt x="12557251" y="0"/>
                    <a:pt x="12568682" y="11430"/>
                    <a:pt x="12568682" y="25400"/>
                  </a:cubicBezTo>
                  <a:cubicBezTo>
                    <a:pt x="12568682" y="39370"/>
                    <a:pt x="12557251" y="50800"/>
                    <a:pt x="12543282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B5C1E2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8143280" y="7111156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Builds Confidence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7859762" y="7875686"/>
            <a:ext cx="9426476" cy="1009947"/>
            <a:chOff x="0" y="0"/>
            <a:chExt cx="12568635" cy="134659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568682" cy="1346581"/>
            </a:xfrm>
            <a:custGeom>
              <a:avLst/>
              <a:gdLst/>
              <a:ahLst/>
              <a:cxnLst/>
              <a:rect r="r" b="b" t="t" l="l"/>
              <a:pathLst>
                <a:path h="1346581" w="12568682">
                  <a:moveTo>
                    <a:pt x="0" y="0"/>
                  </a:moveTo>
                  <a:lnTo>
                    <a:pt x="12568682" y="0"/>
                  </a:lnTo>
                  <a:lnTo>
                    <a:pt x="12568682" y="1346581"/>
                  </a:lnTo>
                  <a:lnTo>
                    <a:pt x="0" y="1346581"/>
                  </a:lnTo>
                  <a:close/>
                </a:path>
              </a:pathLst>
            </a:custGeom>
            <a:solidFill>
              <a:srgbClr val="CFDBFC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7859762" y="7875686"/>
            <a:ext cx="9426476" cy="38100"/>
            <a:chOff x="0" y="0"/>
            <a:chExt cx="12568635" cy="50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568682" cy="50800"/>
            </a:xfrm>
            <a:custGeom>
              <a:avLst/>
              <a:gdLst/>
              <a:ahLst/>
              <a:cxnLst/>
              <a:rect r="r" b="b" t="t" l="l"/>
              <a:pathLst>
                <a:path h="50800" w="12568682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2543282" y="0"/>
                  </a:lnTo>
                  <a:cubicBezTo>
                    <a:pt x="12557251" y="0"/>
                    <a:pt x="12568682" y="11430"/>
                    <a:pt x="12568682" y="25400"/>
                  </a:cubicBezTo>
                  <a:cubicBezTo>
                    <a:pt x="12568682" y="39370"/>
                    <a:pt x="12557251" y="50800"/>
                    <a:pt x="12543282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B5C1E2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8143280" y="8121104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Creates Equality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" y="342900"/>
            <a:ext cx="4277274" cy="9957942"/>
          </a:xfrm>
          <a:custGeom>
            <a:avLst/>
            <a:gdLst/>
            <a:ahLst/>
            <a:cxnLst/>
            <a:rect r="r" b="b" t="t" l="l"/>
            <a:pathLst>
              <a:path h="9957942" w="4277274">
                <a:moveTo>
                  <a:pt x="0" y="0"/>
                </a:moveTo>
                <a:lnTo>
                  <a:pt x="4277274" y="0"/>
                </a:lnTo>
                <a:lnTo>
                  <a:pt x="4277274" y="9957942"/>
                </a:lnTo>
                <a:lnTo>
                  <a:pt x="0" y="99579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0831" y="-1179"/>
            <a:ext cx="3535011" cy="10281059"/>
          </a:xfrm>
          <a:custGeom>
            <a:avLst/>
            <a:gdLst/>
            <a:ahLst/>
            <a:cxnLst/>
            <a:rect r="r" b="b" t="t" l="l"/>
            <a:pathLst>
              <a:path h="10281059" w="3535011">
                <a:moveTo>
                  <a:pt x="0" y="0"/>
                </a:moveTo>
                <a:lnTo>
                  <a:pt x="3535012" y="0"/>
                </a:lnTo>
                <a:lnTo>
                  <a:pt x="3535012" y="10281059"/>
                </a:lnTo>
                <a:lnTo>
                  <a:pt x="0" y="102810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274320" cy="10287000"/>
            <a:chOff x="0" y="0"/>
            <a:chExt cx="365760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576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66F54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5133729" y="3430805"/>
            <a:ext cx="8771930" cy="1358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54"/>
              </a:lnSpc>
            </a:pPr>
            <a:r>
              <a:rPr lang="en-US" sz="8462" b="true">
                <a:solidFill>
                  <a:srgbClr val="3F6FF3"/>
                </a:solidFill>
                <a:latin typeface="Arimo Bold"/>
                <a:ea typeface="Arimo Bold"/>
                <a:cs typeface="Arimo Bold"/>
                <a:sym typeface="Arimo Bold"/>
              </a:rPr>
              <a:t>THANKYOU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DAG4IivcxSg</dc:identifier>
  <dcterms:modified xsi:type="dcterms:W3CDTF">2011-08-01T06:04:30Z</dcterms:modified>
  <cp:revision>1</cp:revision>
  <dc:title>AI-Powered-Multimodal-Communication new.pptx</dc:title>
</cp:coreProperties>
</file>